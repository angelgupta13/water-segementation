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27432"/>
          </a:xfrm>
          <a:prstGeom prst="rect">
            <a:avLst/>
          </a:prstGeom>
          <a:solidFill>
            <a:srgbClr val="0D9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Water Body Segmentation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0D948B"/>
                </a:solidFill>
              </a:defRPr>
            </a:pPr>
            <a:r>
              <a:t>Binary Semantic Segmentation of Sentinel-2 Satellite Imagery  |  U-Net + ResNet34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029200"/>
            <a:ext cx="12191695" cy="1828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530352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Candidate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62356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Angel Gupta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530352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Backbone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562356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U-Net + ResNet34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530352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Repository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562356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Angelgupta13/water-segmentation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109441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2. Problem Statement &amp;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1828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D948B"/>
                </a:solidFill>
              </a:defRPr>
            </a:pPr>
            <a:r>
              <a:t>Slide 02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05840"/>
            <a:ext cx="5029200" cy="27432"/>
          </a:xfrm>
          <a:prstGeom prst="rect">
            <a:avLst/>
          </a:prstGeom>
          <a:solidFill>
            <a:srgbClr val="0D9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Extracting dynamic water boundaries from Sentinel-2 earth observations is essential for automated flood risk mapping, reservoir monitoring, and climate metrics.</a:t>
            </a:r>
          </a:p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Key challenges:</a:t>
            </a:r>
          </a:p>
          <a:p>
            <a:pPr lvl="1">
              <a:spcAft>
                <a:spcPts val="800"/>
              </a:spcAft>
              <a:defRPr sz="1200">
                <a:solidFill>
                  <a:srgbClr val="64748B"/>
                </a:solidFill>
              </a:defRPr>
            </a:pPr>
            <a:r>
              <a:t>  Class imbalance: 7.6% water vs 92.4% non-water pixels</a:t>
            </a:r>
          </a:p>
          <a:p>
            <a:pPr lvl="1">
              <a:spcAft>
                <a:spcPts val="800"/>
              </a:spcAft>
              <a:defRPr sz="1200">
                <a:solidFill>
                  <a:srgbClr val="64748B"/>
                </a:solidFill>
              </a:defRPr>
            </a:pPr>
            <a:r>
              <a:t>  JPEG artifacts: 96% of masks have compression noise (values 1-199)</a:t>
            </a:r>
          </a:p>
          <a:p>
            <a:pPr lvl="1">
              <a:spcAft>
                <a:spcPts val="800"/>
              </a:spcAft>
              <a:defRPr sz="1200">
                <a:solidFill>
                  <a:srgbClr val="64748B"/>
                </a:solidFill>
              </a:defRPr>
            </a:pPr>
            <a:r>
              <a:t>  RGB-only input -- no NIR band to distinguish water from shadow</a:t>
            </a:r>
          </a:p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Data split: 70% train (1,989), 15% val (426), 15% test (426) from 2,841 images</a:t>
            </a:r>
          </a:p>
        </p:txBody>
      </p:sp>
      <p:pic>
        <p:nvPicPr>
          <p:cNvPr id="8" name="Picture 7" descr="sample_pai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2336415" cy="47548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5943600"/>
            <a:ext cx="5303520" cy="54864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016752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D948B"/>
                </a:solidFill>
              </a:defRPr>
            </a:pPr>
            <a:r>
              <a:t>Data Split: 70% Train (1,989) | 15% Val (426) | 15% Test (426)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109441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3. Preprocessing &amp; Artifact Scrubbing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1828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D948B"/>
                </a:solidFill>
              </a:defRPr>
            </a:pPr>
            <a:r>
              <a:t>Slide 03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05840"/>
            <a:ext cx="5029200" cy="27432"/>
          </a:xfrm>
          <a:prstGeom prst="rect">
            <a:avLst/>
          </a:prstGeom>
          <a:solidFill>
            <a:srgbClr val="0D9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Original mask files are riddled with compression artifacts (values 1-199). Standard thresholding limits detail, requiring an optimized configuration:</a:t>
            </a:r>
          </a:p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Resize: 256x256 (bilinear for images, nearest-neighbor for masks)</a:t>
            </a:r>
          </a:p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Threshold: Masks thresholded at &gt;200 to remove JPEG noise</a:t>
            </a:r>
          </a:p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Augmentation: Horizontal/vertical flips (50%), 90-degree rotations, color jitter (30%)</a:t>
            </a:r>
          </a:p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Normalization: ImageNet mean (0.485, 0.456, 0.406) and std (0.229, 0.224, 0.225)</a:t>
            </a:r>
          </a:p>
        </p:txBody>
      </p:sp>
      <p:pic>
        <p:nvPicPr>
          <p:cNvPr id="8" name="Picture 7" descr="mask_artif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029200" cy="174890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5943600"/>
            <a:ext cx="5303520" cy="54864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016752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D948B"/>
                </a:solidFill>
              </a:defRPr>
            </a:pPr>
            <a:r>
              <a:t>ImageNet Normalization: mean=[0.485, 0.456, 0.406], std=[0.229, 0.224, 0.225]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109441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4. Exploratory Data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1828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D948B"/>
                </a:solidFill>
              </a:defRPr>
            </a:pPr>
            <a:r>
              <a:t>Slide 04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05840"/>
            <a:ext cx="5029200" cy="27432"/>
          </a:xfrm>
          <a:prstGeom prst="rect">
            <a:avLst/>
          </a:prstGeom>
          <a:solidFill>
            <a:srgbClr val="0D9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A complete histogram scan over the water-to-land ratio demonstrates extreme pixel imbalance across scenes:</a:t>
            </a:r>
          </a:p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Water Pixel Ratio: Heavily left-skewed, majority of scenes consist mainly of land background features.</a:t>
            </a:r>
          </a:p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Class Imbalance: Water pixels = 7.6% of total dataset, non-water = 92.4%</a:t>
            </a:r>
          </a:p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Imbalance Handling: Hybrid loss (BCE + Dice) used rather than standard cross-entropy to protect spatial boundaries.</a:t>
            </a:r>
          </a:p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Spatial diversity: Images cover coastlines, rivers, lakes, reservoirs across multiple geographic regions.</a:t>
            </a:r>
          </a:p>
        </p:txBody>
      </p:sp>
      <p:pic>
        <p:nvPicPr>
          <p:cNvPr id="8" name="Picture 7" descr="class_im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029200" cy="17904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5943600"/>
            <a:ext cx="5303520" cy="54864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016752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D948B"/>
                </a:solidFill>
              </a:defRPr>
            </a:pPr>
            <a:r>
              <a:t>Water pixels: ~7.6% of total | BCE + Dice hybrid loss handles imbalance without focal loss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109441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5. Model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1828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D948B"/>
                </a:solidFill>
              </a:defRPr>
            </a:pPr>
            <a:r>
              <a:t>Slide 05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05840"/>
            <a:ext cx="5029200" cy="27432"/>
          </a:xfrm>
          <a:prstGeom prst="rect">
            <a:avLst/>
          </a:prstGeom>
          <a:solidFill>
            <a:srgbClr val="0D9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Encoder: ImageNet-pretrained ResNet34 (21M parameters) ensures fast, stable convergence.</a:t>
            </a:r>
          </a:p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Decoder: Symmetric up-sampling with spatial skip connections from encoder stages.</a:t>
            </a:r>
          </a:p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Loss: 0.5 x BCE + 0.5 x Dice Loss to combat the 7.6% class imbalance.</a:t>
            </a:r>
          </a:p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Optimizer: AdamW (lr=1e-4, weight_decay=1e-4) + CosineAnnealingLR scheduler.</a:t>
            </a:r>
          </a:p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Early stopping: Patience=10 epochs on val IOU (stopped at epoch 34).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1887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Hyperparameter Configuration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0" y="1737360"/>
            <a:ext cx="45720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0" y="1737360"/>
            <a:ext cx="54864" cy="411480"/>
          </a:xfrm>
          <a:prstGeom prst="rect">
            <a:avLst/>
          </a:prstGeom>
          <a:solidFill>
            <a:srgbClr val="0D9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182880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Learning 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1828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D948B"/>
                </a:solidFill>
              </a:defRPr>
            </a:pPr>
            <a:r>
              <a:t>1e-4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2240280"/>
            <a:ext cx="45720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0" y="2240280"/>
            <a:ext cx="54864" cy="411480"/>
          </a:xfrm>
          <a:prstGeom prst="rect">
            <a:avLst/>
          </a:prstGeom>
          <a:solidFill>
            <a:srgbClr val="0D9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0" y="23317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Batch Size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23317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D948B"/>
                </a:solidFill>
              </a:defRPr>
            </a:pPr>
            <a:r>
              <a:t>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0" y="2743200"/>
            <a:ext cx="45720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0" y="2743200"/>
            <a:ext cx="54864" cy="411480"/>
          </a:xfrm>
          <a:prstGeom prst="rect">
            <a:avLst/>
          </a:prstGeom>
          <a:solidFill>
            <a:srgbClr val="0D9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0" y="283464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Optimizer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83464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D948B"/>
                </a:solidFill>
              </a:defRPr>
            </a:pPr>
            <a:r>
              <a:t>AdamW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3246120"/>
            <a:ext cx="45720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0" y="3246120"/>
            <a:ext cx="54864" cy="411480"/>
          </a:xfrm>
          <a:prstGeom prst="rect">
            <a:avLst/>
          </a:prstGeom>
          <a:solidFill>
            <a:srgbClr val="0D9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0" y="333756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Scheduler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333756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D948B"/>
                </a:solidFill>
              </a:defRPr>
            </a:pPr>
            <a:r>
              <a:t>CosineAnnealingLR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3749039"/>
            <a:ext cx="45720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0" y="3749039"/>
            <a:ext cx="54864" cy="411480"/>
          </a:xfrm>
          <a:prstGeom prst="rect">
            <a:avLst/>
          </a:prstGeom>
          <a:solidFill>
            <a:srgbClr val="0D9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0" y="3840479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Patience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3840479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D948B"/>
                </a:solidFill>
              </a:defRPr>
            </a:pPr>
            <a:r>
              <a:t>10 epochs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0" y="4251960"/>
            <a:ext cx="45720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58000" y="4251960"/>
            <a:ext cx="54864" cy="411480"/>
          </a:xfrm>
          <a:prstGeom prst="rect">
            <a:avLst/>
          </a:prstGeom>
          <a:solidFill>
            <a:srgbClr val="0D9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0" y="434340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Stopped 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43434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D948B"/>
                </a:solidFill>
              </a:defRPr>
            </a:pPr>
            <a:r>
              <a:t>Epoch 34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943600"/>
            <a:ext cx="5303520" cy="54864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6016752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D948B"/>
                </a:solidFill>
              </a:defRPr>
            </a:pPr>
            <a:r>
              <a:t>Weighted BCE handles local spatial gradients; Dice directly addresses global Jaccard metric boundaries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109441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6. Hyperparameter Tuning &amp;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1828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D948B"/>
                </a:solidFill>
              </a:defRPr>
            </a:pPr>
            <a:r>
              <a:t>Slide 06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05840"/>
            <a:ext cx="5029200" cy="27432"/>
          </a:xfrm>
          <a:prstGeom prst="rect">
            <a:avLst/>
          </a:prstGeom>
          <a:solidFill>
            <a:srgbClr val="0D9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188720"/>
          <a:ext cx="53035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0704"/>
                <a:gridCol w="1060704"/>
                <a:gridCol w="1060704"/>
                <a:gridCol w="1060704"/>
                <a:gridCol w="1060704"/>
              </a:tblGrid>
              <a:tr h="4114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Run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LR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Batch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IOU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lr1e-4_bs8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1e-4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0.8018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92.65%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lr5e-5_bs8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5e-5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0.7928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92.31%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lr1e-4_bs16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1e-4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0.7542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90.86%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30175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Final Model (Test Set)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474720"/>
          <a:ext cx="530352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IOU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0.8249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93.80%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91.90%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88.70%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48640" y="4480560"/>
            <a:ext cx="5303520" cy="54864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553712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D948B"/>
                </a:solidFill>
              </a:defRPr>
            </a:pPr>
            <a:r>
              <a:t>Precision &gt; Recall (91.90% vs 88.70%): under-segments slightly -- safer bias for flood mapping (fewer false alarms)</a:t>
            </a:r>
          </a:p>
        </p:txBody>
      </p:sp>
      <p:pic>
        <p:nvPicPr>
          <p:cNvPr id="12" name="Picture 11" descr="predi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029200" cy="504826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109441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7. Optimized Inference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1828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D948B"/>
                </a:solidFill>
              </a:defRPr>
            </a:pPr>
            <a:r>
              <a:t>Slide 07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05840"/>
            <a:ext cx="5029200" cy="27432"/>
          </a:xfrm>
          <a:prstGeom prst="rect">
            <a:avLst/>
          </a:prstGeom>
          <a:solidFill>
            <a:srgbClr val="0D9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ONNX Runtime delivers ~2.2x CPU speedup through operator fusion (conv+bn+relu -&gt; single kernel).</a:t>
            </a:r>
          </a:p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Sliding-window tiling: 256x256 tiles, 32px overlap (~72 tiles/image).</a:t>
            </a:r>
          </a:p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Without tiling, a 2009x2007 image would require 46 GB GPU memory.</a:t>
            </a:r>
          </a:p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Test-Time Augmentation: horizontal flip averaging (+0.5-1% IOU).</a:t>
            </a:r>
          </a:p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Auto-fallback: ONNX -&gt; PyTorch -&gt; MLflow registry.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1887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Latency per 256x256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37360"/>
            <a:ext cx="4114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PyTorch (CPU)  (~120 ms, 1.0x)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2057400"/>
            <a:ext cx="4572000" cy="228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2057400"/>
            <a:ext cx="4572000" cy="2286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64240" y="20116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4748B"/>
                </a:solidFill>
              </a:defRPr>
            </a:pPr>
            <a:r>
              <a:t>1.0x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51760"/>
            <a:ext cx="4114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ONNX Runtime (CPU)  (~55 ms, 2.2x)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2971800"/>
            <a:ext cx="4572000" cy="228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0" y="2971800"/>
            <a:ext cx="2103120" cy="228600"/>
          </a:xfrm>
          <a:prstGeom prst="rect">
            <a:avLst/>
          </a:prstGeom>
          <a:solidFill>
            <a:srgbClr val="0D9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0" y="29260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D948B"/>
                </a:solidFill>
              </a:defRPr>
            </a:pPr>
            <a:r>
              <a:t>2.2x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566160"/>
            <a:ext cx="4114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ONNX Runtime (GPU)  (~15 ms, 8.0x)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3886200"/>
            <a:ext cx="4572000" cy="228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0" y="3886200"/>
            <a:ext cx="571500" cy="2286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63740" y="38404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8.0x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943600"/>
            <a:ext cx="5303520" cy="54864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6016752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D948B"/>
                </a:solidFill>
              </a:defRPr>
            </a:pPr>
            <a:r>
              <a:t>Fallback chain: ONNX -&gt; PyTorch -&gt; MLflow Registry Weight Pull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109441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8. Failure Modes &amp; Model Transparency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1828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D948B"/>
                </a:solidFill>
              </a:defRPr>
            </a:pPr>
            <a:r>
              <a:t>Slide 08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05840"/>
            <a:ext cx="5029200" cy="27432"/>
          </a:xfrm>
          <a:prstGeom prst="rect">
            <a:avLst/>
          </a:prstGeom>
          <a:solidFill>
            <a:srgbClr val="0D9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188720"/>
          <a:ext cx="53035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7840"/>
                <a:gridCol w="1767840"/>
                <a:gridCol w="1767840"/>
              </a:tblGrid>
              <a:tr h="4114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Failure Mode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Impact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Root Cause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Narrow waterways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Streams &lt;4px wide missed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256x256 resize destroys thin features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Shadow / dark terrain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Shadows classified as water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RGB-only; NIR band disambiguates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JPEG boundary noise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Ragged mask edges (+/-1px)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Compression artifacts in source masks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30175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Operational Boundaries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747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Production-ready for: lakes, large rivers, wide reservoirs</a:t>
            </a:r>
          </a:p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Not suitable for: narrow canals, small ponds (&lt;500 m2), shadow-prone terrain</a:t>
            </a:r>
          </a:p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Biggest bottleneck: RGB-only input -- adding NIR band gives +5-10% IOU</a:t>
            </a:r>
          </a:p>
        </p:txBody>
      </p:sp>
      <p:pic>
        <p:nvPicPr>
          <p:cNvPr id="10" name="Picture 9" descr="edge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029200" cy="169869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109441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9. MLOps Deployment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1828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D948B"/>
                </a:solidFill>
              </a:defRPr>
            </a:pPr>
            <a:r>
              <a:t>Slide 09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05840"/>
            <a:ext cx="5029200" cy="27432"/>
          </a:xfrm>
          <a:prstGeom prst="rect">
            <a:avLst/>
          </a:prstGeom>
          <a:solidFill>
            <a:srgbClr val="0D9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188720"/>
            <a:ext cx="1828800" cy="82296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188720"/>
            <a:ext cx="1828800" cy="36576"/>
          </a:xfrm>
          <a:prstGeom prst="rect">
            <a:avLst/>
          </a:prstGeom>
          <a:solidFill>
            <a:srgbClr val="0D9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D948B"/>
                </a:solidFill>
              </a:defRPr>
            </a:pPr>
            <a:r>
              <a:t>COMMIT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51760" y="1188720"/>
            <a:ext cx="1828800" cy="82296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51760" y="1188720"/>
            <a:ext cx="1828800" cy="36576"/>
          </a:xfrm>
          <a:prstGeom prst="rect">
            <a:avLst/>
          </a:prstGeom>
          <a:solidFill>
            <a:srgbClr val="0D9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51760" y="128016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D948B"/>
                </a:solidFill>
              </a:defRPr>
            </a:pPr>
            <a:r>
              <a:t>LINT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79" y="1188720"/>
            <a:ext cx="1828800" cy="82296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54879" y="1188720"/>
            <a:ext cx="1828800" cy="36576"/>
          </a:xfrm>
          <a:prstGeom prst="rect">
            <a:avLst/>
          </a:prstGeom>
          <a:solidFill>
            <a:srgbClr val="0D9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79" y="128016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D948B"/>
                </a:solidFill>
              </a:defRPr>
            </a:pPr>
            <a:r>
              <a:t>TEST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7999" y="1188720"/>
            <a:ext cx="1828800" cy="82296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7999" y="1188720"/>
            <a:ext cx="1828800" cy="36576"/>
          </a:xfrm>
          <a:prstGeom prst="rect">
            <a:avLst/>
          </a:prstGeom>
          <a:solidFill>
            <a:srgbClr val="0D9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7999" y="128016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D948B"/>
                </a:solidFill>
              </a:defRPr>
            </a:pPr>
            <a:r>
              <a:t>BUILD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1119" y="1188720"/>
            <a:ext cx="1828800" cy="82296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61119" y="1188720"/>
            <a:ext cx="1828800" cy="36576"/>
          </a:xfrm>
          <a:prstGeom prst="rect">
            <a:avLst/>
          </a:prstGeom>
          <a:solidFill>
            <a:srgbClr val="0D9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19" y="128016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D948B"/>
                </a:solidFill>
              </a:defRPr>
            </a:pPr>
            <a:r>
              <a:t>PUSH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2860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GitHub Actions on push to master: flake8 lint -&gt; 15 pytest -&gt; Docker build -&gt; Docker Hub push.</a:t>
            </a:r>
          </a:p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Dockerfile: python:3.11-slim, ONNX model baked in, HEALTHCHECK every 10s.</a:t>
            </a:r>
          </a:p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MLflow: per-epoch metrics, model registry (water-segmentation-unet v1, serialization_format=pt2).</a:t>
            </a:r>
          </a:p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Security: 60 req/min rate limiter, 100 MB upload cap, path traversal protection.</a:t>
            </a:r>
          </a:p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Image: angelgupta/water-segmentation:latest on Docker Hub.</a:t>
            </a:r>
          </a:p>
        </p:txBody>
      </p:sp>
      <p:pic>
        <p:nvPicPr>
          <p:cNvPr id="23" name="Picture 22" descr="demo_out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029200" cy="503421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109441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10. Recommendations &amp; Strategic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1828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D948B"/>
                </a:solidFill>
              </a:defRPr>
            </a:pPr>
            <a:r>
              <a:t>Slide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88720"/>
            <a:ext cx="3474720" cy="457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HIGH IMPACT (+5-10% IOU)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800"/>
              </a:spcAft>
              <a:defRPr sz="1200">
                <a:solidFill>
                  <a:srgbClr val="64748B"/>
                </a:solidFill>
              </a:defRPr>
            </a:pPr>
            <a:r>
              <a:t>  Add NIR band input (Band 8) for NDWI</a:t>
            </a:r>
          </a:p>
          <a:p>
            <a:pPr lvl="1">
              <a:spcAft>
                <a:spcPts val="800"/>
              </a:spcAft>
              <a:defRPr sz="1200">
                <a:solidFill>
                  <a:srgbClr val="64748B"/>
                </a:solidFill>
              </a:defRPr>
            </a:pPr>
            <a:r>
              <a:t>  Train on full-resolution random crops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188720"/>
            <a:ext cx="3474720" cy="457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18872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MEDIUM IMPACT (+1-3% IOU)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82880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800"/>
              </a:spcAft>
              <a:defRPr sz="1200">
                <a:solidFill>
                  <a:srgbClr val="64748B"/>
                </a:solidFill>
              </a:defRPr>
            </a:pPr>
            <a:r>
              <a:t>  EfficientNet-B4 encoder swap</a:t>
            </a:r>
          </a:p>
          <a:p>
            <a:pPr lvl="1">
              <a:spcAft>
                <a:spcPts val="800"/>
              </a:spcAft>
              <a:defRPr sz="1200">
                <a:solidFill>
                  <a:srgbClr val="64748B"/>
                </a:solidFill>
              </a:defRPr>
            </a:pPr>
            <a:r>
              <a:t>  Optuna Bayesian search (30+ trials)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188720"/>
            <a:ext cx="3474720" cy="457200"/>
          </a:xfrm>
          <a:prstGeom prst="rect">
            <a:avLst/>
          </a:prstGeom>
          <a:solidFill>
            <a:srgbClr val="0D9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18872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LOW IMPACT (+0.5-1% IOU)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182880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800"/>
              </a:spcAft>
              <a:defRPr sz="1200">
                <a:solidFill>
                  <a:srgbClr val="64748B"/>
                </a:solidFill>
              </a:defRPr>
            </a:pPr>
            <a:r>
              <a:t>  Ensemble (3-5 seeds)</a:t>
            </a:r>
          </a:p>
          <a:p>
            <a:pPr lvl="1">
              <a:spcAft>
                <a:spcPts val="800"/>
              </a:spcAft>
              <a:defRPr sz="1200">
                <a:solidFill>
                  <a:srgbClr val="64748B"/>
                </a:solidFill>
              </a:defRPr>
            </a:pPr>
            <a:r>
              <a:t>  CRF post-processing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0F172A"/>
                </a:solidFill>
              </a:defRPr>
            </a:pPr>
            <a:r>
              <a:t>Current model (IOU 0.82) is production-ready for coarse water mapping. Adding NIR band closes the gap to high-precision applications.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943600"/>
            <a:ext cx="10972800" cy="54864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6016752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D948B"/>
                </a:solidFill>
              </a:defRPr>
            </a:pPr>
            <a:r>
              <a:t>7 prioritized recommendations with expected impact and effort in REPORT.md Section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