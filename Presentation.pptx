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Calibri (MS) Bold" charset="1" panose="020F0702030404030204"/>
      <p:regular r:id="rId16"/>
    </p:embeddedFont>
    <p:embeddedFont>
      <p:font typeface="Calibri (MS)" charset="1" panose="020F050202020403020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804353"/>
            <a:ext cx="18301840" cy="41177"/>
            <a:chOff x="0" y="0"/>
            <a:chExt cx="24402453" cy="549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54864"/>
            </a:xfrm>
            <a:custGeom>
              <a:avLst/>
              <a:gdLst/>
              <a:ahLst/>
              <a:cxnLst/>
              <a:rect r="r" b="b" t="t" l="l"/>
              <a:pathLst>
                <a:path h="54864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54864"/>
                  </a:lnTo>
                  <a:lnTo>
                    <a:pt x="0" y="54864"/>
                  </a:lnTo>
                  <a:close/>
                </a:path>
              </a:pathLst>
            </a:custGeom>
            <a:solidFill>
              <a:srgbClr val="0D948B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464116" y="1961855"/>
            <a:ext cx="15373617" cy="14241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26"/>
              </a:lnSpc>
            </a:pPr>
            <a:r>
              <a:rPr lang="en-US" b="true" sz="6605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Water Body Segmentation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64116" y="3822525"/>
            <a:ext cx="15373617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2"/>
              </a:lnSpc>
            </a:pPr>
            <a:r>
              <a:rPr lang="en-US" sz="310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Binary Semantic Segmentation of Sentinel-2 Satellite Imagery  |  U-Net + ResNet34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5" y="6794730"/>
            <a:ext cx="18301840" cy="2745343"/>
            <a:chOff x="0" y="0"/>
            <a:chExt cx="24402453" cy="366045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02414" cy="3660521"/>
            </a:xfrm>
            <a:custGeom>
              <a:avLst/>
              <a:gdLst/>
              <a:ahLst/>
              <a:cxnLst/>
              <a:rect r="r" b="b" t="t" l="l"/>
              <a:pathLst>
                <a:path h="3660521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3660521"/>
                  </a:lnTo>
                  <a:lnTo>
                    <a:pt x="0" y="3660521"/>
                  </a:lnTo>
                  <a:close/>
                </a:path>
              </a:pathLst>
            </a:custGeom>
            <a:solidFill>
              <a:srgbClr val="0F172A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5163084" y="7326566"/>
            <a:ext cx="7641431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1"/>
              </a:lnSpc>
            </a:pPr>
            <a:r>
              <a:rPr lang="en-US" sz="420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Angel Gupta</a:t>
            </a:r>
          </a:p>
          <a:p>
            <a:pPr algn="ctr">
              <a:lnSpc>
                <a:spcPts val="3121"/>
              </a:lnSpc>
            </a:pPr>
            <a:r>
              <a:rPr lang="en-US" sz="260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https://github.com/Angelgupta13/water-segmentation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235402"/>
            <a:chOff x="0" y="0"/>
            <a:chExt cx="24402453" cy="16472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647190"/>
            </a:xfrm>
            <a:custGeom>
              <a:avLst/>
              <a:gdLst/>
              <a:ahLst/>
              <a:cxnLst/>
              <a:rect r="r" b="b" t="t" l="l"/>
              <a:pathLst>
                <a:path h="1647190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647190"/>
                  </a:lnTo>
                  <a:lnTo>
                    <a:pt x="0" y="164719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3608" y="1166774"/>
            <a:ext cx="16654634" cy="27451"/>
            <a:chOff x="0" y="0"/>
            <a:chExt cx="22206179" cy="3660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206204" cy="36576"/>
            </a:xfrm>
            <a:custGeom>
              <a:avLst/>
              <a:gdLst/>
              <a:ahLst/>
              <a:cxnLst/>
              <a:rect r="r" b="b" t="t" l="l"/>
              <a:pathLst>
                <a:path h="36576" w="22206204">
                  <a:moveTo>
                    <a:pt x="0" y="0"/>
                  </a:moveTo>
                  <a:lnTo>
                    <a:pt x="22206204" y="0"/>
                  </a:lnTo>
                  <a:lnTo>
                    <a:pt x="22206204" y="36576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70112" y="482398"/>
            <a:ext cx="16289188" cy="936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2. Problem Statement &amp; Dataset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877175" y="282159"/>
            <a:ext cx="1876130" cy="495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 b="true">
                <a:solidFill>
                  <a:srgbClr val="0D948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Slide 02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23608" y="1509941"/>
            <a:ext cx="7549696" cy="41177"/>
            <a:chOff x="0" y="0"/>
            <a:chExt cx="10066261" cy="5490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066274" cy="54864"/>
            </a:xfrm>
            <a:custGeom>
              <a:avLst/>
              <a:gdLst/>
              <a:ahLst/>
              <a:cxnLst/>
              <a:rect r="r" b="b" t="t" l="l"/>
              <a:pathLst>
                <a:path h="54864" w="10066274">
                  <a:moveTo>
                    <a:pt x="0" y="0"/>
                  </a:moveTo>
                  <a:lnTo>
                    <a:pt x="10066274" y="0"/>
                  </a:lnTo>
                  <a:lnTo>
                    <a:pt x="10066274" y="54864"/>
                  </a:lnTo>
                  <a:lnTo>
                    <a:pt x="0" y="54864"/>
                  </a:lnTo>
                  <a:close/>
                </a:path>
              </a:pathLst>
            </a:custGeom>
            <a:solidFill>
              <a:srgbClr val="0D948B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823608" y="2342113"/>
            <a:ext cx="7778620" cy="476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1"/>
              </a:lnSpc>
            </a:pPr>
            <a:r>
              <a:rPr lang="en-US" sz="2651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Extracting dynamic water boundaries from Sentinel-2 earth observations is essential for automated flood risk mapping, reservoir monitoring, and climate metrics.</a:t>
            </a:r>
          </a:p>
          <a:p>
            <a:pPr algn="l">
              <a:lnSpc>
                <a:spcPts val="3181"/>
              </a:lnSpc>
            </a:pPr>
          </a:p>
          <a:p>
            <a:pPr algn="l">
              <a:lnSpc>
                <a:spcPts val="3181"/>
              </a:lnSpc>
            </a:pPr>
            <a:r>
              <a:rPr lang="en-US" sz="2651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Key challenges:</a:t>
            </a:r>
          </a:p>
          <a:p>
            <a:pPr algn="l" marL="540051" indent="-270025" lvl="1">
              <a:lnSpc>
                <a:spcPts val="3001"/>
              </a:lnSpc>
              <a:buFont typeface="Arial"/>
              <a:buChar char="•"/>
            </a:pPr>
            <a:r>
              <a:rPr lang="en-US" sz="2501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  Class imbalance: 7.6% water vs 92.4% non-water pixels</a:t>
            </a:r>
          </a:p>
          <a:p>
            <a:pPr algn="l" marL="540051" indent="-270025" lvl="1">
              <a:lnSpc>
                <a:spcPts val="3001"/>
              </a:lnSpc>
              <a:buFont typeface="Arial"/>
              <a:buChar char="•"/>
            </a:pPr>
            <a:r>
              <a:rPr lang="en-US" sz="2501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  JPEG artifacts: 96% of masks have compression noise (values 1-199)</a:t>
            </a:r>
          </a:p>
          <a:p>
            <a:pPr algn="l" marL="540051" indent="-270025" lvl="1">
              <a:lnSpc>
                <a:spcPts val="3001"/>
              </a:lnSpc>
              <a:buFont typeface="Arial"/>
              <a:buChar char="•"/>
            </a:pPr>
            <a:r>
              <a:rPr lang="en-US" sz="2501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  RGB-only input -- no NIR band to distinguish water from shadow</a:t>
            </a:r>
          </a:p>
          <a:p>
            <a:pPr algn="l" marL="572462" indent="-286231" lvl="1">
              <a:lnSpc>
                <a:spcPts val="3181"/>
              </a:lnSpc>
              <a:buFont typeface="Arial"/>
              <a:buChar char="•"/>
            </a:pPr>
            <a:r>
              <a:rPr lang="en-US" sz="2651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Data split: 70% train (1,989), 15% val (426), 15% test (426) from 2,841 images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506088" y="320259"/>
            <a:ext cx="4830199" cy="9830020"/>
            <a:chOff x="0" y="0"/>
            <a:chExt cx="4676483" cy="9517190"/>
          </a:xfrm>
        </p:grpSpPr>
        <p:sp>
          <p:nvSpPr>
            <p:cNvPr name="Freeform 12" id="12" descr="sample_pairs.png"/>
            <p:cNvSpPr/>
            <p:nvPr/>
          </p:nvSpPr>
          <p:spPr>
            <a:xfrm flipH="false" flipV="false" rot="0">
              <a:off x="0" y="0"/>
              <a:ext cx="4676521" cy="9517253"/>
            </a:xfrm>
            <a:custGeom>
              <a:avLst/>
              <a:gdLst/>
              <a:ahLst/>
              <a:cxnLst/>
              <a:rect r="r" b="b" t="t" l="l"/>
              <a:pathLst>
                <a:path h="9517253" w="4676521">
                  <a:moveTo>
                    <a:pt x="0" y="0"/>
                  </a:moveTo>
                  <a:lnTo>
                    <a:pt x="4676521" y="0"/>
                  </a:lnTo>
                  <a:lnTo>
                    <a:pt x="4676521" y="9517253"/>
                  </a:lnTo>
                  <a:lnTo>
                    <a:pt x="0" y="95172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823608" y="8922372"/>
            <a:ext cx="7961500" cy="823608"/>
            <a:chOff x="0" y="0"/>
            <a:chExt cx="10615333" cy="109814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615295" cy="1098169"/>
            </a:xfrm>
            <a:custGeom>
              <a:avLst/>
              <a:gdLst/>
              <a:ahLst/>
              <a:cxnLst/>
              <a:rect r="r" b="b" t="t" l="l"/>
              <a:pathLst>
                <a:path h="1098169" w="10615295">
                  <a:moveTo>
                    <a:pt x="0" y="0"/>
                  </a:moveTo>
                  <a:lnTo>
                    <a:pt x="10615295" y="0"/>
                  </a:lnTo>
                  <a:lnTo>
                    <a:pt x="10615295" y="1098169"/>
                  </a:lnTo>
                  <a:lnTo>
                    <a:pt x="0" y="1098169"/>
                  </a:lnTo>
                  <a:close/>
                </a:path>
              </a:pathLst>
            </a:custGeom>
            <a:solidFill>
              <a:srgbClr val="F0FDF4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120940" y="9030281"/>
            <a:ext cx="7366816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1"/>
              </a:lnSpc>
            </a:pPr>
            <a:r>
              <a:rPr lang="en-US" sz="2201">
                <a:solidFill>
                  <a:srgbClr val="0D948B"/>
                </a:solidFill>
                <a:latin typeface="Calibri (MS)"/>
                <a:ea typeface="Calibri (MS)"/>
                <a:cs typeface="Calibri (MS)"/>
                <a:sym typeface="Calibri (MS)"/>
              </a:rPr>
              <a:t>Data Split: 70% Train (1,989) | 15% Val (426) | 15% Test (426)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235402"/>
            <a:chOff x="0" y="0"/>
            <a:chExt cx="24402453" cy="16472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647190"/>
            </a:xfrm>
            <a:custGeom>
              <a:avLst/>
              <a:gdLst/>
              <a:ahLst/>
              <a:cxnLst/>
              <a:rect r="r" b="b" t="t" l="l"/>
              <a:pathLst>
                <a:path h="1647190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647190"/>
                  </a:lnTo>
                  <a:lnTo>
                    <a:pt x="0" y="164719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3608" y="1166774"/>
            <a:ext cx="16654634" cy="27451"/>
            <a:chOff x="0" y="0"/>
            <a:chExt cx="22206179" cy="3660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206204" cy="36576"/>
            </a:xfrm>
            <a:custGeom>
              <a:avLst/>
              <a:gdLst/>
              <a:ahLst/>
              <a:cxnLst/>
              <a:rect r="r" b="b" t="t" l="l"/>
              <a:pathLst>
                <a:path h="36576" w="22206204">
                  <a:moveTo>
                    <a:pt x="0" y="0"/>
                  </a:moveTo>
                  <a:lnTo>
                    <a:pt x="22206204" y="0"/>
                  </a:lnTo>
                  <a:lnTo>
                    <a:pt x="22206204" y="36576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15048" y="184947"/>
            <a:ext cx="16289188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2"/>
              </a:lnSpc>
            </a:pPr>
            <a:r>
              <a:rPr lang="en-US" sz="3302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3. Preprocessing &amp; Artifact Scrubbing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877175" y="282159"/>
            <a:ext cx="1876130" cy="495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 b="true">
                <a:solidFill>
                  <a:srgbClr val="0D948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Slide 03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23608" y="1509941"/>
            <a:ext cx="7549696" cy="41177"/>
            <a:chOff x="0" y="0"/>
            <a:chExt cx="10066261" cy="5490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066274" cy="54864"/>
            </a:xfrm>
            <a:custGeom>
              <a:avLst/>
              <a:gdLst/>
              <a:ahLst/>
              <a:cxnLst/>
              <a:rect r="r" b="b" t="t" l="l"/>
              <a:pathLst>
                <a:path h="54864" w="10066274">
                  <a:moveTo>
                    <a:pt x="0" y="0"/>
                  </a:moveTo>
                  <a:lnTo>
                    <a:pt x="10066274" y="0"/>
                  </a:lnTo>
                  <a:lnTo>
                    <a:pt x="10066274" y="54864"/>
                  </a:lnTo>
                  <a:lnTo>
                    <a:pt x="0" y="54864"/>
                  </a:lnTo>
                  <a:close/>
                </a:path>
              </a:pathLst>
            </a:custGeom>
            <a:solidFill>
              <a:srgbClr val="0D948B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871423" y="2255429"/>
            <a:ext cx="6606819" cy="5657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1"/>
              </a:lnSpc>
            </a:pPr>
            <a:r>
              <a:rPr lang="en-US" sz="2651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Original mask files are riddled with compression artifacts (values 1-199). Standard thresholding limits detail, requiring an optimized configuration:</a:t>
            </a:r>
          </a:p>
          <a:p>
            <a:pPr algn="l">
              <a:lnSpc>
                <a:spcPts val="3181"/>
              </a:lnSpc>
            </a:pPr>
          </a:p>
          <a:p>
            <a:pPr algn="l" marL="572462" indent="-286231" lvl="1">
              <a:lnSpc>
                <a:spcPts val="3181"/>
              </a:lnSpc>
              <a:buFont typeface="Arial"/>
              <a:buChar char="•"/>
            </a:pPr>
            <a:r>
              <a:rPr lang="en-US" sz="2651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Resize: 256x256 (bilinear for images, nearest-neighbor for masks)</a:t>
            </a:r>
          </a:p>
          <a:p>
            <a:pPr algn="l" marL="572462" indent="-286231" lvl="1">
              <a:lnSpc>
                <a:spcPts val="3181"/>
              </a:lnSpc>
              <a:buFont typeface="Arial"/>
              <a:buChar char="•"/>
            </a:pPr>
            <a:r>
              <a:rPr lang="en-US" sz="2651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Threshold: Masks thresholded at &gt;200 to remove JPEG noise</a:t>
            </a:r>
          </a:p>
          <a:p>
            <a:pPr algn="l" marL="572462" indent="-286231" lvl="1">
              <a:lnSpc>
                <a:spcPts val="3181"/>
              </a:lnSpc>
              <a:buFont typeface="Arial"/>
              <a:buChar char="•"/>
            </a:pPr>
            <a:r>
              <a:rPr lang="en-US" sz="2651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Augmentation: Horizontal/vertical flips (50%), 90-degree rotations, color jitter (30%)</a:t>
            </a:r>
          </a:p>
          <a:p>
            <a:pPr algn="l" marL="572462" indent="-286231" lvl="1">
              <a:lnSpc>
                <a:spcPts val="3181"/>
              </a:lnSpc>
              <a:buFont typeface="Arial"/>
              <a:buChar char="•"/>
            </a:pPr>
            <a:r>
              <a:rPr lang="en-US" sz="2651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Normalization: ImageNet mean (0.485, 0.456, 0.406) and std (0.229, 0.224, 0.225)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562467" y="3101674"/>
            <a:ext cx="9809347" cy="3411197"/>
            <a:chOff x="0" y="0"/>
            <a:chExt cx="10066261" cy="3500539"/>
          </a:xfrm>
        </p:grpSpPr>
        <p:sp>
          <p:nvSpPr>
            <p:cNvPr name="Freeform 12" id="12" descr="mask_artifact.png"/>
            <p:cNvSpPr/>
            <p:nvPr/>
          </p:nvSpPr>
          <p:spPr>
            <a:xfrm flipH="false" flipV="false" rot="0">
              <a:off x="0" y="0"/>
              <a:ext cx="10066274" cy="3500501"/>
            </a:xfrm>
            <a:custGeom>
              <a:avLst/>
              <a:gdLst/>
              <a:ahLst/>
              <a:cxnLst/>
              <a:rect r="r" b="b" t="t" l="l"/>
              <a:pathLst>
                <a:path h="3500501" w="10066274">
                  <a:moveTo>
                    <a:pt x="0" y="0"/>
                  </a:moveTo>
                  <a:lnTo>
                    <a:pt x="10066274" y="0"/>
                  </a:lnTo>
                  <a:lnTo>
                    <a:pt x="10066274" y="3500501"/>
                  </a:lnTo>
                  <a:lnTo>
                    <a:pt x="0" y="35005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1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823608" y="8922372"/>
            <a:ext cx="10047815" cy="823608"/>
            <a:chOff x="0" y="0"/>
            <a:chExt cx="13397087" cy="109814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397038" cy="1098169"/>
            </a:xfrm>
            <a:custGeom>
              <a:avLst/>
              <a:gdLst/>
              <a:ahLst/>
              <a:cxnLst/>
              <a:rect r="r" b="b" t="t" l="l"/>
              <a:pathLst>
                <a:path h="1098169" w="13397038">
                  <a:moveTo>
                    <a:pt x="0" y="0"/>
                  </a:moveTo>
                  <a:lnTo>
                    <a:pt x="13397038" y="0"/>
                  </a:lnTo>
                  <a:lnTo>
                    <a:pt x="13397038" y="1098169"/>
                  </a:lnTo>
                  <a:lnTo>
                    <a:pt x="0" y="1098169"/>
                  </a:lnTo>
                  <a:close/>
                </a:path>
              </a:pathLst>
            </a:custGeom>
            <a:solidFill>
              <a:srgbClr val="F0FDF4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120940" y="9030281"/>
            <a:ext cx="9250874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0D948B"/>
                </a:solidFill>
                <a:latin typeface="Calibri (MS)"/>
                <a:ea typeface="Calibri (MS)"/>
                <a:cs typeface="Calibri (MS)"/>
                <a:sym typeface="Calibri (MS)"/>
              </a:rPr>
              <a:t>ImageNet Normalization: mean=[0.485, 0.456, 0.406], std=[0.229, 0.224, 0.225]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235402"/>
            <a:chOff x="0" y="0"/>
            <a:chExt cx="24402453" cy="16472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647190"/>
            </a:xfrm>
            <a:custGeom>
              <a:avLst/>
              <a:gdLst/>
              <a:ahLst/>
              <a:cxnLst/>
              <a:rect r="r" b="b" t="t" l="l"/>
              <a:pathLst>
                <a:path h="1647190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647190"/>
                  </a:lnTo>
                  <a:lnTo>
                    <a:pt x="0" y="164719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3608" y="1166774"/>
            <a:ext cx="16654634" cy="27451"/>
            <a:chOff x="0" y="0"/>
            <a:chExt cx="22206179" cy="3660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206204" cy="36576"/>
            </a:xfrm>
            <a:custGeom>
              <a:avLst/>
              <a:gdLst/>
              <a:ahLst/>
              <a:cxnLst/>
              <a:rect r="r" b="b" t="t" l="l"/>
              <a:pathLst>
                <a:path h="36576" w="22206204">
                  <a:moveTo>
                    <a:pt x="0" y="0"/>
                  </a:moveTo>
                  <a:lnTo>
                    <a:pt x="22206204" y="0"/>
                  </a:lnTo>
                  <a:lnTo>
                    <a:pt x="22206204" y="36576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15048" y="357149"/>
            <a:ext cx="16289188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2"/>
              </a:lnSpc>
            </a:pPr>
            <a:r>
              <a:rPr lang="en-US" sz="3402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4. Exploratory Data Analysis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877175" y="282159"/>
            <a:ext cx="1876130" cy="495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 b="true">
                <a:solidFill>
                  <a:srgbClr val="0D948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Slide 04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23608" y="1509941"/>
            <a:ext cx="7549696" cy="41177"/>
            <a:chOff x="0" y="0"/>
            <a:chExt cx="10066261" cy="5490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066274" cy="54864"/>
            </a:xfrm>
            <a:custGeom>
              <a:avLst/>
              <a:gdLst/>
              <a:ahLst/>
              <a:cxnLst/>
              <a:rect r="r" b="b" t="t" l="l"/>
              <a:pathLst>
                <a:path h="54864" w="10066274">
                  <a:moveTo>
                    <a:pt x="0" y="0"/>
                  </a:moveTo>
                  <a:lnTo>
                    <a:pt x="10066274" y="0"/>
                  </a:lnTo>
                  <a:lnTo>
                    <a:pt x="10066274" y="54864"/>
                  </a:lnTo>
                  <a:lnTo>
                    <a:pt x="0" y="54864"/>
                  </a:lnTo>
                  <a:close/>
                </a:path>
              </a:pathLst>
            </a:custGeom>
            <a:solidFill>
              <a:srgbClr val="0D948B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401883" y="2371891"/>
            <a:ext cx="6835085" cy="6629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5"/>
              </a:lnSpc>
            </a:pPr>
            <a:r>
              <a:rPr lang="en-US" sz="2913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A complete histogram scan over the water-to-land ratio demonstrates extreme pixel imbalance across scenes:</a:t>
            </a:r>
          </a:p>
          <a:p>
            <a:pPr algn="l">
              <a:lnSpc>
                <a:spcPts val="3495"/>
              </a:lnSpc>
            </a:pPr>
          </a:p>
          <a:p>
            <a:pPr algn="l" marL="628972" indent="-314486" lvl="1">
              <a:lnSpc>
                <a:spcPts val="3495"/>
              </a:lnSpc>
              <a:buFont typeface="Arial"/>
              <a:buChar char="•"/>
            </a:pPr>
            <a:r>
              <a:rPr lang="en-US" sz="2913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Water Pixel Ratio: Heavily left-skewed, majority of scenes consist mainly of land background features.</a:t>
            </a:r>
          </a:p>
          <a:p>
            <a:pPr algn="l" marL="628972" indent="-314486" lvl="1">
              <a:lnSpc>
                <a:spcPts val="3495"/>
              </a:lnSpc>
              <a:buFont typeface="Arial"/>
              <a:buChar char="•"/>
            </a:pPr>
            <a:r>
              <a:rPr lang="en-US" sz="2913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Class Imbalance: Water pixels = 7.6% of total dataset, non-water = 92.4%</a:t>
            </a:r>
          </a:p>
          <a:p>
            <a:pPr algn="l" marL="628972" indent="-314486" lvl="1">
              <a:lnSpc>
                <a:spcPts val="3495"/>
              </a:lnSpc>
              <a:buFont typeface="Arial"/>
              <a:buChar char="•"/>
            </a:pPr>
            <a:r>
              <a:rPr lang="en-US" sz="2913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Imbalance Handling: Hybrid loss (BCE + Dice) used rather than standard cross-entropy to protect spatial boundaries.</a:t>
            </a:r>
          </a:p>
          <a:p>
            <a:pPr algn="l" marL="628972" indent="-314486" lvl="1">
              <a:lnSpc>
                <a:spcPts val="3495"/>
              </a:lnSpc>
              <a:buFont typeface="Arial"/>
              <a:buChar char="•"/>
            </a:pPr>
            <a:r>
              <a:rPr lang="en-US" sz="2913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Spatial diversity: Images cover coastlines, rivers, lakes, reservoirs across multiple geographic regions.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376115" y="2122618"/>
            <a:ext cx="10676735" cy="3800967"/>
            <a:chOff x="0" y="0"/>
            <a:chExt cx="10066261" cy="3583635"/>
          </a:xfrm>
        </p:grpSpPr>
        <p:sp>
          <p:nvSpPr>
            <p:cNvPr name="Freeform 12" id="12" descr="class_imbalance.png"/>
            <p:cNvSpPr/>
            <p:nvPr/>
          </p:nvSpPr>
          <p:spPr>
            <a:xfrm flipH="false" flipV="false" rot="0">
              <a:off x="0" y="0"/>
              <a:ext cx="10066274" cy="3583686"/>
            </a:xfrm>
            <a:custGeom>
              <a:avLst/>
              <a:gdLst/>
              <a:ahLst/>
              <a:cxnLst/>
              <a:rect r="r" b="b" t="t" l="l"/>
              <a:pathLst>
                <a:path h="3583686" w="10066274">
                  <a:moveTo>
                    <a:pt x="0" y="0"/>
                  </a:moveTo>
                  <a:lnTo>
                    <a:pt x="10066274" y="0"/>
                  </a:lnTo>
                  <a:lnTo>
                    <a:pt x="10066274" y="3583686"/>
                  </a:lnTo>
                  <a:lnTo>
                    <a:pt x="0" y="35836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1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7652470" y="7004977"/>
            <a:ext cx="13039372" cy="823608"/>
            <a:chOff x="0" y="0"/>
            <a:chExt cx="17385829" cy="109814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7385767" cy="1098169"/>
            </a:xfrm>
            <a:custGeom>
              <a:avLst/>
              <a:gdLst/>
              <a:ahLst/>
              <a:cxnLst/>
              <a:rect r="r" b="b" t="t" l="l"/>
              <a:pathLst>
                <a:path h="1098169" w="17385767">
                  <a:moveTo>
                    <a:pt x="0" y="0"/>
                  </a:moveTo>
                  <a:lnTo>
                    <a:pt x="17385767" y="0"/>
                  </a:lnTo>
                  <a:lnTo>
                    <a:pt x="17385767" y="1098169"/>
                  </a:lnTo>
                  <a:lnTo>
                    <a:pt x="0" y="1098169"/>
                  </a:lnTo>
                  <a:close/>
                </a:path>
              </a:pathLst>
            </a:custGeom>
            <a:solidFill>
              <a:srgbClr val="F0FDF4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8195867" y="7066584"/>
            <a:ext cx="9008369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1"/>
              </a:lnSpc>
            </a:pPr>
            <a:r>
              <a:rPr lang="en-US" sz="2401">
                <a:solidFill>
                  <a:srgbClr val="0D948B"/>
                </a:solidFill>
                <a:latin typeface="Calibri (MS)"/>
                <a:ea typeface="Calibri (MS)"/>
                <a:cs typeface="Calibri (MS)"/>
                <a:sym typeface="Calibri (MS)"/>
              </a:rPr>
              <a:t>Water pixels: ~7.6% of total | BCE + Dice hybrid loss handles imbalance without focal loss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235402"/>
            <a:chOff x="0" y="0"/>
            <a:chExt cx="24402453" cy="16472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647190"/>
            </a:xfrm>
            <a:custGeom>
              <a:avLst/>
              <a:gdLst/>
              <a:ahLst/>
              <a:cxnLst/>
              <a:rect r="r" b="b" t="t" l="l"/>
              <a:pathLst>
                <a:path h="1647190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647190"/>
                  </a:lnTo>
                  <a:lnTo>
                    <a:pt x="0" y="164719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3608" y="1166774"/>
            <a:ext cx="16654634" cy="27451"/>
            <a:chOff x="0" y="0"/>
            <a:chExt cx="22206179" cy="3660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206204" cy="36576"/>
            </a:xfrm>
            <a:custGeom>
              <a:avLst/>
              <a:gdLst/>
              <a:ahLst/>
              <a:cxnLst/>
              <a:rect r="r" b="b" t="t" l="l"/>
              <a:pathLst>
                <a:path h="36576" w="22206204">
                  <a:moveTo>
                    <a:pt x="0" y="0"/>
                  </a:moveTo>
                  <a:lnTo>
                    <a:pt x="22206204" y="0"/>
                  </a:lnTo>
                  <a:lnTo>
                    <a:pt x="22206204" y="36576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15048" y="184947"/>
            <a:ext cx="16289188" cy="936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5. Model Architecture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877175" y="282159"/>
            <a:ext cx="1876130" cy="495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 b="true">
                <a:solidFill>
                  <a:srgbClr val="0D948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Slide 05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23608" y="1509941"/>
            <a:ext cx="7549696" cy="41177"/>
            <a:chOff x="0" y="0"/>
            <a:chExt cx="10066261" cy="5490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066274" cy="54864"/>
            </a:xfrm>
            <a:custGeom>
              <a:avLst/>
              <a:gdLst/>
              <a:ahLst/>
              <a:cxnLst/>
              <a:rect r="r" b="b" t="t" l="l"/>
              <a:pathLst>
                <a:path h="54864" w="10066274">
                  <a:moveTo>
                    <a:pt x="0" y="0"/>
                  </a:moveTo>
                  <a:lnTo>
                    <a:pt x="10066274" y="0"/>
                  </a:lnTo>
                  <a:lnTo>
                    <a:pt x="10066274" y="54864"/>
                  </a:lnTo>
                  <a:lnTo>
                    <a:pt x="0" y="54864"/>
                  </a:lnTo>
                  <a:close/>
                </a:path>
              </a:pathLst>
            </a:custGeom>
            <a:solidFill>
              <a:srgbClr val="0D948B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302201" y="2836257"/>
            <a:ext cx="8482906" cy="453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7230" indent="-318615" lvl="1">
              <a:lnSpc>
                <a:spcPts val="3541"/>
              </a:lnSpc>
              <a:buFont typeface="Arial"/>
              <a:buChar char="•"/>
            </a:pPr>
            <a:r>
              <a:rPr lang="en-US" sz="2951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Encoder: ImageNet-pretrained ResNet34 (21M parameters) ensures fast, stable convergence.</a:t>
            </a:r>
          </a:p>
          <a:p>
            <a:pPr algn="l" marL="637230" indent="-318615" lvl="1">
              <a:lnSpc>
                <a:spcPts val="3541"/>
              </a:lnSpc>
              <a:buFont typeface="Arial"/>
              <a:buChar char="•"/>
            </a:pPr>
            <a:r>
              <a:rPr lang="en-US" sz="2951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Decoder: Symmetric up-sampling with spatial skip connections from encoder stages.</a:t>
            </a:r>
          </a:p>
          <a:p>
            <a:pPr algn="l" marL="637230" indent="-318615" lvl="1">
              <a:lnSpc>
                <a:spcPts val="3541"/>
              </a:lnSpc>
              <a:buFont typeface="Arial"/>
              <a:buChar char="•"/>
            </a:pPr>
            <a:r>
              <a:rPr lang="en-US" sz="2951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Loss: 0.5 x BCE + 0.5 x Dice Loss to combat the 7.6% class imbalance.</a:t>
            </a:r>
          </a:p>
          <a:p>
            <a:pPr algn="l" marL="637230" indent="-318615" lvl="1">
              <a:lnSpc>
                <a:spcPts val="3541"/>
              </a:lnSpc>
              <a:buFont typeface="Arial"/>
              <a:buChar char="•"/>
            </a:pPr>
            <a:r>
              <a:rPr lang="en-US" sz="2951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Optimizer: AdamW (lr=1e-4, weight_decay=1e-4) + CosineAnnealingLR scheduler.</a:t>
            </a:r>
          </a:p>
          <a:p>
            <a:pPr algn="l" marL="637230" indent="-318615" lvl="1">
              <a:lnSpc>
                <a:spcPts val="3541"/>
              </a:lnSpc>
              <a:buFont typeface="Arial"/>
              <a:buChar char="•"/>
            </a:pPr>
            <a:r>
              <a:rPr lang="en-US" sz="2951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Early stopping: Patience=10 epochs on val IOU (stopped at epoch 34).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61458" y="2253332"/>
            <a:ext cx="8081234" cy="776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6"/>
              </a:lnSpc>
            </a:pPr>
            <a:r>
              <a:rPr lang="en-US" sz="2905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Hyperparameter Configuration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450845" y="3251476"/>
            <a:ext cx="8302460" cy="747225"/>
            <a:chOff x="0" y="0"/>
            <a:chExt cx="9151150" cy="82360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151112" cy="823595"/>
            </a:xfrm>
            <a:custGeom>
              <a:avLst/>
              <a:gdLst/>
              <a:ahLst/>
              <a:cxnLst/>
              <a:rect r="r" b="b" t="t" l="l"/>
              <a:pathLst>
                <a:path h="823595" w="9151112">
                  <a:moveTo>
                    <a:pt x="0" y="0"/>
                  </a:moveTo>
                  <a:lnTo>
                    <a:pt x="9151112" y="0"/>
                  </a:lnTo>
                  <a:lnTo>
                    <a:pt x="9151112" y="823595"/>
                  </a:lnTo>
                  <a:lnTo>
                    <a:pt x="0" y="823595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450845" y="3251476"/>
            <a:ext cx="99632" cy="747225"/>
            <a:chOff x="0" y="0"/>
            <a:chExt cx="109817" cy="82360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855" cy="823595"/>
            </a:xfrm>
            <a:custGeom>
              <a:avLst/>
              <a:gdLst/>
              <a:ahLst/>
              <a:cxnLst/>
              <a:rect r="r" b="b" t="t" l="l"/>
              <a:pathLst>
                <a:path h="823595" w="109855">
                  <a:moveTo>
                    <a:pt x="0" y="0"/>
                  </a:moveTo>
                  <a:lnTo>
                    <a:pt x="109855" y="0"/>
                  </a:lnTo>
                  <a:lnTo>
                    <a:pt x="109855" y="823595"/>
                  </a:lnTo>
                  <a:lnTo>
                    <a:pt x="0" y="823595"/>
                  </a:lnTo>
                  <a:close/>
                </a:path>
              </a:pathLst>
            </a:custGeom>
            <a:solidFill>
              <a:srgbClr val="0D948B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0059608" y="3425203"/>
            <a:ext cx="3929998" cy="435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7"/>
              </a:lnSpc>
            </a:pPr>
            <a:r>
              <a:rPr lang="en-US" sz="1997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Learning Rate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210844" y="3425203"/>
            <a:ext cx="3099756" cy="435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97"/>
              </a:lnSpc>
            </a:pPr>
            <a:r>
              <a:rPr lang="en-US" sz="1997" b="true">
                <a:solidFill>
                  <a:srgbClr val="0D948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1e-4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450845" y="4164747"/>
            <a:ext cx="8302460" cy="747225"/>
            <a:chOff x="0" y="0"/>
            <a:chExt cx="9151150" cy="82360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151112" cy="823595"/>
            </a:xfrm>
            <a:custGeom>
              <a:avLst/>
              <a:gdLst/>
              <a:ahLst/>
              <a:cxnLst/>
              <a:rect r="r" b="b" t="t" l="l"/>
              <a:pathLst>
                <a:path h="823595" w="9151112">
                  <a:moveTo>
                    <a:pt x="0" y="0"/>
                  </a:moveTo>
                  <a:lnTo>
                    <a:pt x="9151112" y="0"/>
                  </a:lnTo>
                  <a:lnTo>
                    <a:pt x="9151112" y="823595"/>
                  </a:lnTo>
                  <a:lnTo>
                    <a:pt x="0" y="823595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450845" y="4164747"/>
            <a:ext cx="99632" cy="747225"/>
            <a:chOff x="0" y="0"/>
            <a:chExt cx="109817" cy="82360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9855" cy="823595"/>
            </a:xfrm>
            <a:custGeom>
              <a:avLst/>
              <a:gdLst/>
              <a:ahLst/>
              <a:cxnLst/>
              <a:rect r="r" b="b" t="t" l="l"/>
              <a:pathLst>
                <a:path h="823595" w="109855">
                  <a:moveTo>
                    <a:pt x="0" y="0"/>
                  </a:moveTo>
                  <a:lnTo>
                    <a:pt x="109855" y="0"/>
                  </a:lnTo>
                  <a:lnTo>
                    <a:pt x="109855" y="823595"/>
                  </a:lnTo>
                  <a:lnTo>
                    <a:pt x="0" y="823595"/>
                  </a:lnTo>
                  <a:close/>
                </a:path>
              </a:pathLst>
            </a:custGeom>
            <a:solidFill>
              <a:srgbClr val="0D948B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0059608" y="4338475"/>
            <a:ext cx="3929998" cy="435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7"/>
              </a:lnSpc>
            </a:pPr>
            <a:r>
              <a:rPr lang="en-US" sz="1997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Batch Size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210844" y="4338475"/>
            <a:ext cx="3099756" cy="435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97"/>
              </a:lnSpc>
            </a:pPr>
            <a:r>
              <a:rPr lang="en-US" sz="1997" b="true">
                <a:solidFill>
                  <a:srgbClr val="0D948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8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450845" y="5078018"/>
            <a:ext cx="8302460" cy="747225"/>
            <a:chOff x="0" y="0"/>
            <a:chExt cx="9151150" cy="82360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151112" cy="823595"/>
            </a:xfrm>
            <a:custGeom>
              <a:avLst/>
              <a:gdLst/>
              <a:ahLst/>
              <a:cxnLst/>
              <a:rect r="r" b="b" t="t" l="l"/>
              <a:pathLst>
                <a:path h="823595" w="9151112">
                  <a:moveTo>
                    <a:pt x="0" y="0"/>
                  </a:moveTo>
                  <a:lnTo>
                    <a:pt x="9151112" y="0"/>
                  </a:lnTo>
                  <a:lnTo>
                    <a:pt x="9151112" y="823595"/>
                  </a:lnTo>
                  <a:lnTo>
                    <a:pt x="0" y="823595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450845" y="5078018"/>
            <a:ext cx="99632" cy="747225"/>
            <a:chOff x="0" y="0"/>
            <a:chExt cx="109817" cy="82360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9855" cy="823595"/>
            </a:xfrm>
            <a:custGeom>
              <a:avLst/>
              <a:gdLst/>
              <a:ahLst/>
              <a:cxnLst/>
              <a:rect r="r" b="b" t="t" l="l"/>
              <a:pathLst>
                <a:path h="823595" w="109855">
                  <a:moveTo>
                    <a:pt x="0" y="0"/>
                  </a:moveTo>
                  <a:lnTo>
                    <a:pt x="109855" y="0"/>
                  </a:lnTo>
                  <a:lnTo>
                    <a:pt x="109855" y="823595"/>
                  </a:lnTo>
                  <a:lnTo>
                    <a:pt x="0" y="823595"/>
                  </a:lnTo>
                  <a:close/>
                </a:path>
              </a:pathLst>
            </a:custGeom>
            <a:solidFill>
              <a:srgbClr val="0D948B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0059608" y="5251746"/>
            <a:ext cx="3929998" cy="435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7"/>
              </a:lnSpc>
            </a:pPr>
            <a:r>
              <a:rPr lang="en-US" sz="1997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Optimizer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4210844" y="5251746"/>
            <a:ext cx="3099756" cy="435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97"/>
              </a:lnSpc>
            </a:pPr>
            <a:r>
              <a:rPr lang="en-US" sz="1997" b="true">
                <a:solidFill>
                  <a:srgbClr val="0D948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AdamW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9450845" y="5991290"/>
            <a:ext cx="8302460" cy="747225"/>
            <a:chOff x="0" y="0"/>
            <a:chExt cx="9151150" cy="82360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151112" cy="823595"/>
            </a:xfrm>
            <a:custGeom>
              <a:avLst/>
              <a:gdLst/>
              <a:ahLst/>
              <a:cxnLst/>
              <a:rect r="r" b="b" t="t" l="l"/>
              <a:pathLst>
                <a:path h="823595" w="9151112">
                  <a:moveTo>
                    <a:pt x="0" y="0"/>
                  </a:moveTo>
                  <a:lnTo>
                    <a:pt x="9151112" y="0"/>
                  </a:lnTo>
                  <a:lnTo>
                    <a:pt x="9151112" y="823595"/>
                  </a:lnTo>
                  <a:lnTo>
                    <a:pt x="0" y="823595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450845" y="5991290"/>
            <a:ext cx="99632" cy="747225"/>
            <a:chOff x="0" y="0"/>
            <a:chExt cx="109817" cy="82360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9855" cy="823595"/>
            </a:xfrm>
            <a:custGeom>
              <a:avLst/>
              <a:gdLst/>
              <a:ahLst/>
              <a:cxnLst/>
              <a:rect r="r" b="b" t="t" l="l"/>
              <a:pathLst>
                <a:path h="823595" w="109855">
                  <a:moveTo>
                    <a:pt x="0" y="0"/>
                  </a:moveTo>
                  <a:lnTo>
                    <a:pt x="109855" y="0"/>
                  </a:lnTo>
                  <a:lnTo>
                    <a:pt x="109855" y="823595"/>
                  </a:lnTo>
                  <a:lnTo>
                    <a:pt x="0" y="823595"/>
                  </a:lnTo>
                  <a:close/>
                </a:path>
              </a:pathLst>
            </a:custGeom>
            <a:solidFill>
              <a:srgbClr val="0D948B"/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10059608" y="6165017"/>
            <a:ext cx="3929998" cy="435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7"/>
              </a:lnSpc>
            </a:pPr>
            <a:r>
              <a:rPr lang="en-US" sz="1997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Scheduler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4210844" y="6165017"/>
            <a:ext cx="3099756" cy="435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97"/>
              </a:lnSpc>
            </a:pPr>
            <a:r>
              <a:rPr lang="en-US" sz="1997" b="true">
                <a:solidFill>
                  <a:srgbClr val="0D948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CosineAnnealingLR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9450845" y="6904549"/>
            <a:ext cx="8302460" cy="747225"/>
            <a:chOff x="0" y="0"/>
            <a:chExt cx="9151150" cy="82360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151112" cy="823595"/>
            </a:xfrm>
            <a:custGeom>
              <a:avLst/>
              <a:gdLst/>
              <a:ahLst/>
              <a:cxnLst/>
              <a:rect r="r" b="b" t="t" l="l"/>
              <a:pathLst>
                <a:path h="823595" w="9151112">
                  <a:moveTo>
                    <a:pt x="0" y="0"/>
                  </a:moveTo>
                  <a:lnTo>
                    <a:pt x="9151112" y="0"/>
                  </a:lnTo>
                  <a:lnTo>
                    <a:pt x="9151112" y="823595"/>
                  </a:lnTo>
                  <a:lnTo>
                    <a:pt x="0" y="823595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9450845" y="6904549"/>
            <a:ext cx="99632" cy="747225"/>
            <a:chOff x="0" y="0"/>
            <a:chExt cx="109817" cy="82360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9855" cy="823595"/>
            </a:xfrm>
            <a:custGeom>
              <a:avLst/>
              <a:gdLst/>
              <a:ahLst/>
              <a:cxnLst/>
              <a:rect r="r" b="b" t="t" l="l"/>
              <a:pathLst>
                <a:path h="823595" w="109855">
                  <a:moveTo>
                    <a:pt x="0" y="0"/>
                  </a:moveTo>
                  <a:lnTo>
                    <a:pt x="109855" y="0"/>
                  </a:lnTo>
                  <a:lnTo>
                    <a:pt x="109855" y="823595"/>
                  </a:lnTo>
                  <a:lnTo>
                    <a:pt x="0" y="823595"/>
                  </a:lnTo>
                  <a:close/>
                </a:path>
              </a:pathLst>
            </a:custGeom>
            <a:solidFill>
              <a:srgbClr val="0D948B"/>
            </a:solid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10059608" y="7078289"/>
            <a:ext cx="3929998" cy="435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7"/>
              </a:lnSpc>
            </a:pPr>
            <a:r>
              <a:rPr lang="en-US" sz="1997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Patience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4210844" y="7078289"/>
            <a:ext cx="3099756" cy="435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97"/>
              </a:lnSpc>
            </a:pPr>
            <a:r>
              <a:rPr lang="en-US" sz="1997" b="true">
                <a:solidFill>
                  <a:srgbClr val="0D948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10 epochs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9450845" y="7817832"/>
            <a:ext cx="8302460" cy="747225"/>
            <a:chOff x="0" y="0"/>
            <a:chExt cx="9151150" cy="82360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9151112" cy="823595"/>
            </a:xfrm>
            <a:custGeom>
              <a:avLst/>
              <a:gdLst/>
              <a:ahLst/>
              <a:cxnLst/>
              <a:rect r="r" b="b" t="t" l="l"/>
              <a:pathLst>
                <a:path h="823595" w="9151112">
                  <a:moveTo>
                    <a:pt x="0" y="0"/>
                  </a:moveTo>
                  <a:lnTo>
                    <a:pt x="9151112" y="0"/>
                  </a:lnTo>
                  <a:lnTo>
                    <a:pt x="9151112" y="823595"/>
                  </a:lnTo>
                  <a:lnTo>
                    <a:pt x="0" y="823595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9450845" y="7817832"/>
            <a:ext cx="99632" cy="747225"/>
            <a:chOff x="0" y="0"/>
            <a:chExt cx="109817" cy="82360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9855" cy="823595"/>
            </a:xfrm>
            <a:custGeom>
              <a:avLst/>
              <a:gdLst/>
              <a:ahLst/>
              <a:cxnLst/>
              <a:rect r="r" b="b" t="t" l="l"/>
              <a:pathLst>
                <a:path h="823595" w="109855">
                  <a:moveTo>
                    <a:pt x="0" y="0"/>
                  </a:moveTo>
                  <a:lnTo>
                    <a:pt x="109855" y="0"/>
                  </a:lnTo>
                  <a:lnTo>
                    <a:pt x="109855" y="823595"/>
                  </a:lnTo>
                  <a:lnTo>
                    <a:pt x="0" y="823595"/>
                  </a:lnTo>
                  <a:close/>
                </a:path>
              </a:pathLst>
            </a:custGeom>
            <a:solidFill>
              <a:srgbClr val="0D948B"/>
            </a:solidFill>
          </p:spPr>
        </p:sp>
      </p:grpSp>
      <p:sp>
        <p:nvSpPr>
          <p:cNvPr name="TextBox 46" id="46"/>
          <p:cNvSpPr txBox="true"/>
          <p:nvPr/>
        </p:nvSpPr>
        <p:spPr>
          <a:xfrm rot="0">
            <a:off x="10059608" y="7991560"/>
            <a:ext cx="3929998" cy="435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7"/>
              </a:lnSpc>
            </a:pPr>
            <a:r>
              <a:rPr lang="en-US" sz="1997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Stopped At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4210844" y="7991560"/>
            <a:ext cx="3099756" cy="435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97"/>
              </a:lnSpc>
            </a:pPr>
            <a:r>
              <a:rPr lang="en-US" sz="1997" b="true">
                <a:solidFill>
                  <a:srgbClr val="0D948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Epoch 34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-796058" y="8518225"/>
            <a:ext cx="9406067" cy="823608"/>
            <a:chOff x="0" y="0"/>
            <a:chExt cx="12541423" cy="1098144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2541377" cy="1098169"/>
            </a:xfrm>
            <a:custGeom>
              <a:avLst/>
              <a:gdLst/>
              <a:ahLst/>
              <a:cxnLst/>
              <a:rect r="r" b="b" t="t" l="l"/>
              <a:pathLst>
                <a:path h="1098169" w="12541377">
                  <a:moveTo>
                    <a:pt x="0" y="0"/>
                  </a:moveTo>
                  <a:lnTo>
                    <a:pt x="12541377" y="0"/>
                  </a:lnTo>
                  <a:lnTo>
                    <a:pt x="12541377" y="1098169"/>
                  </a:lnTo>
                  <a:lnTo>
                    <a:pt x="0" y="1098169"/>
                  </a:lnTo>
                  <a:close/>
                </a:path>
              </a:pathLst>
            </a:custGeom>
            <a:solidFill>
              <a:srgbClr val="F0FDF4"/>
            </a:solidFill>
          </p:spPr>
        </p:sp>
      </p:grpSp>
      <p:sp>
        <p:nvSpPr>
          <p:cNvPr name="TextBox 50" id="50"/>
          <p:cNvSpPr txBox="true"/>
          <p:nvPr/>
        </p:nvSpPr>
        <p:spPr>
          <a:xfrm rot="0">
            <a:off x="683193" y="8665557"/>
            <a:ext cx="7366816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0D948B"/>
                </a:solidFill>
                <a:latin typeface="Calibri (MS)"/>
                <a:ea typeface="Calibri (MS)"/>
                <a:cs typeface="Calibri (MS)"/>
                <a:sym typeface="Calibri (MS)"/>
              </a:rPr>
              <a:t>Weighted BCE handles local spatial gradients; Dice directly addresses global Jaccard metric boundaries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235402"/>
            <a:chOff x="0" y="0"/>
            <a:chExt cx="24402453" cy="16472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647190"/>
            </a:xfrm>
            <a:custGeom>
              <a:avLst/>
              <a:gdLst/>
              <a:ahLst/>
              <a:cxnLst/>
              <a:rect r="r" b="b" t="t" l="l"/>
              <a:pathLst>
                <a:path h="1647190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647190"/>
                  </a:lnTo>
                  <a:lnTo>
                    <a:pt x="0" y="164719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3608" y="1166774"/>
            <a:ext cx="16654634" cy="27451"/>
            <a:chOff x="0" y="0"/>
            <a:chExt cx="22206179" cy="3660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206204" cy="36576"/>
            </a:xfrm>
            <a:custGeom>
              <a:avLst/>
              <a:gdLst/>
              <a:ahLst/>
              <a:cxnLst/>
              <a:rect r="r" b="b" t="t" l="l"/>
              <a:pathLst>
                <a:path h="36576" w="22206204">
                  <a:moveTo>
                    <a:pt x="0" y="0"/>
                  </a:moveTo>
                  <a:lnTo>
                    <a:pt x="22206204" y="0"/>
                  </a:lnTo>
                  <a:lnTo>
                    <a:pt x="22206204" y="36576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15048" y="194472"/>
            <a:ext cx="16289188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2"/>
              </a:lnSpc>
            </a:pPr>
            <a:r>
              <a:rPr lang="en-US" sz="3202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6. Hyperparameter Tuning &amp; Results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877175" y="282159"/>
            <a:ext cx="1876130" cy="495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 b="true">
                <a:solidFill>
                  <a:srgbClr val="0D948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Slide 06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23608" y="1509941"/>
            <a:ext cx="7549696" cy="41177"/>
            <a:chOff x="0" y="0"/>
            <a:chExt cx="10066261" cy="5490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066274" cy="54864"/>
            </a:xfrm>
            <a:custGeom>
              <a:avLst/>
              <a:gdLst/>
              <a:ahLst/>
              <a:cxnLst/>
              <a:rect r="r" b="b" t="t" l="l"/>
              <a:pathLst>
                <a:path h="54864" w="10066274">
                  <a:moveTo>
                    <a:pt x="0" y="0"/>
                  </a:moveTo>
                  <a:lnTo>
                    <a:pt x="10066274" y="0"/>
                  </a:lnTo>
                  <a:lnTo>
                    <a:pt x="10066274" y="54864"/>
                  </a:lnTo>
                  <a:lnTo>
                    <a:pt x="0" y="54864"/>
                  </a:lnTo>
                  <a:close/>
                </a:path>
              </a:pathLst>
            </a:custGeom>
            <a:solidFill>
              <a:srgbClr val="0D948B"/>
            </a:solidFill>
          </p:spPr>
        </p:sp>
      </p:grpSp>
      <p:graphicFrame>
        <p:nvGraphicFramePr>
          <p:cNvPr name="Table 10" id="10"/>
          <p:cNvGraphicFramePr>
            <a:graphicFrameLocks noGrp="true"/>
          </p:cNvGraphicFramePr>
          <p:nvPr/>
        </p:nvGraphicFramePr>
        <p:xfrm>
          <a:off x="642490" y="2566665"/>
          <a:ext cx="7911931" cy="2440306"/>
        </p:xfrm>
        <a:graphic>
          <a:graphicData uri="http://schemas.openxmlformats.org/drawingml/2006/table">
            <a:tbl>
              <a:tblPr/>
              <a:tblGrid>
                <a:gridCol w="1582386"/>
                <a:gridCol w="1582386"/>
                <a:gridCol w="1582386"/>
                <a:gridCol w="1582386"/>
                <a:gridCol w="1582386"/>
              </a:tblGrid>
              <a:tr h="61007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1"/>
                        </a:lnSpc>
                        <a:defRPr/>
                      </a:pPr>
                      <a:r>
                        <a:rPr lang="en-US" sz="1651" b="true">
                          <a:solidFill>
                            <a:srgbClr val="0F172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Run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1"/>
                        </a:lnSpc>
                        <a:defRPr/>
                      </a:pPr>
                      <a:r>
                        <a:rPr lang="en-US" sz="1651" b="true">
                          <a:solidFill>
                            <a:srgbClr val="0F172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LR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1"/>
                        </a:lnSpc>
                        <a:defRPr/>
                      </a:pPr>
                      <a:r>
                        <a:rPr lang="en-US" sz="1651" b="true">
                          <a:solidFill>
                            <a:srgbClr val="0F172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Batch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1"/>
                        </a:lnSpc>
                        <a:defRPr/>
                      </a:pPr>
                      <a:r>
                        <a:rPr lang="en-US" sz="1651" b="true">
                          <a:solidFill>
                            <a:srgbClr val="0F172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IOU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1"/>
                        </a:lnSpc>
                        <a:defRPr/>
                      </a:pPr>
                      <a:r>
                        <a:rPr lang="en-US" sz="1651" b="true">
                          <a:solidFill>
                            <a:srgbClr val="0F172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Accuracy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61007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1"/>
                        </a:lnSpc>
                        <a:defRPr/>
                      </a:pPr>
                      <a:r>
                        <a:rPr lang="en-US" sz="1651">
                          <a:solidFill>
                            <a:srgbClr val="0F17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lr1e-4_bs8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1"/>
                        </a:lnSpc>
                        <a:defRPr/>
                      </a:pPr>
                      <a:r>
                        <a:rPr lang="en-US" sz="1651">
                          <a:solidFill>
                            <a:srgbClr val="0F17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1e-4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1"/>
                        </a:lnSpc>
                        <a:defRPr/>
                      </a:pPr>
                      <a:r>
                        <a:rPr lang="en-US" sz="1651">
                          <a:solidFill>
                            <a:srgbClr val="0F17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8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1"/>
                        </a:lnSpc>
                        <a:defRPr/>
                      </a:pPr>
                      <a:r>
                        <a:rPr lang="en-US" sz="1651">
                          <a:solidFill>
                            <a:srgbClr val="0F17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0.8018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1"/>
                        </a:lnSpc>
                        <a:defRPr/>
                      </a:pPr>
                      <a:r>
                        <a:rPr lang="en-US" sz="1651">
                          <a:solidFill>
                            <a:srgbClr val="0F17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92.65%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  <a:tr h="61007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1"/>
                        </a:lnSpc>
                        <a:defRPr/>
                      </a:pPr>
                      <a:r>
                        <a:rPr lang="en-US" sz="1651">
                          <a:solidFill>
                            <a:srgbClr val="0F17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lr5e-5_bs8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1"/>
                        </a:lnSpc>
                        <a:defRPr/>
                      </a:pPr>
                      <a:r>
                        <a:rPr lang="en-US" sz="1651">
                          <a:solidFill>
                            <a:srgbClr val="0F17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5e-5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1"/>
                        </a:lnSpc>
                        <a:defRPr/>
                      </a:pPr>
                      <a:r>
                        <a:rPr lang="en-US" sz="1651">
                          <a:solidFill>
                            <a:srgbClr val="0F17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8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1"/>
                        </a:lnSpc>
                        <a:defRPr/>
                      </a:pPr>
                      <a:r>
                        <a:rPr lang="en-US" sz="1651">
                          <a:solidFill>
                            <a:srgbClr val="0F17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0.7928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1"/>
                        </a:lnSpc>
                        <a:defRPr/>
                      </a:pPr>
                      <a:r>
                        <a:rPr lang="en-US" sz="1651">
                          <a:solidFill>
                            <a:srgbClr val="0F17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92.31%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007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1"/>
                        </a:lnSpc>
                        <a:defRPr/>
                      </a:pPr>
                      <a:r>
                        <a:rPr lang="en-US" sz="1651">
                          <a:solidFill>
                            <a:srgbClr val="0F17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lr1e-4_bs16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1"/>
                        </a:lnSpc>
                        <a:defRPr/>
                      </a:pPr>
                      <a:r>
                        <a:rPr lang="en-US" sz="1651">
                          <a:solidFill>
                            <a:srgbClr val="0F17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1e-4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1"/>
                        </a:lnSpc>
                        <a:defRPr/>
                      </a:pPr>
                      <a:r>
                        <a:rPr lang="en-US" sz="1651">
                          <a:solidFill>
                            <a:srgbClr val="0F17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16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1"/>
                        </a:lnSpc>
                        <a:defRPr/>
                      </a:pPr>
                      <a:r>
                        <a:rPr lang="en-US" sz="1651">
                          <a:solidFill>
                            <a:srgbClr val="0F17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0.7542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1"/>
                        </a:lnSpc>
                        <a:defRPr/>
                      </a:pPr>
                      <a:r>
                        <a:rPr lang="en-US" sz="1651">
                          <a:solidFill>
                            <a:srgbClr val="0F17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90.86%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</a:tbl>
          </a:graphicData>
        </a:graphic>
      </p:graphicFrame>
      <p:sp>
        <p:nvSpPr>
          <p:cNvPr name="TextBox 11" id="11"/>
          <p:cNvSpPr txBox="true"/>
          <p:nvPr/>
        </p:nvSpPr>
        <p:spPr>
          <a:xfrm rot="0">
            <a:off x="642490" y="6078768"/>
            <a:ext cx="6680483" cy="632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Final Model (Test Set)</a:t>
            </a:r>
          </a:p>
        </p:txBody>
      </p:sp>
      <p:graphicFrame>
        <p:nvGraphicFramePr>
          <p:cNvPr name="Table 12" id="12"/>
          <p:cNvGraphicFramePr>
            <a:graphicFrameLocks noGrp="true"/>
          </p:cNvGraphicFramePr>
          <p:nvPr/>
        </p:nvGraphicFramePr>
        <p:xfrm>
          <a:off x="642490" y="7483286"/>
          <a:ext cx="7930996" cy="1067634"/>
        </p:xfrm>
        <a:graphic>
          <a:graphicData uri="http://schemas.openxmlformats.org/drawingml/2006/table">
            <a:tbl>
              <a:tblPr/>
              <a:tblGrid>
                <a:gridCol w="1982749"/>
                <a:gridCol w="1982749"/>
                <a:gridCol w="1982749"/>
                <a:gridCol w="1982749"/>
              </a:tblGrid>
              <a:tr h="53381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1"/>
                        </a:lnSpc>
                        <a:defRPr/>
                      </a:pPr>
                      <a:r>
                        <a:rPr lang="en-US" sz="1651" b="true">
                          <a:solidFill>
                            <a:srgbClr val="0F172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IOU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1"/>
                        </a:lnSpc>
                        <a:defRPr/>
                      </a:pPr>
                      <a:r>
                        <a:rPr lang="en-US" sz="1651" b="true">
                          <a:solidFill>
                            <a:srgbClr val="0F172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Accuracy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1"/>
                        </a:lnSpc>
                        <a:defRPr/>
                      </a:pPr>
                      <a:r>
                        <a:rPr lang="en-US" sz="1651" b="true">
                          <a:solidFill>
                            <a:srgbClr val="0F172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Precision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1"/>
                        </a:lnSpc>
                        <a:defRPr/>
                      </a:pPr>
                      <a:r>
                        <a:rPr lang="en-US" sz="1651" b="true">
                          <a:solidFill>
                            <a:srgbClr val="0F172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Recall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3381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1"/>
                        </a:lnSpc>
                        <a:defRPr/>
                      </a:pPr>
                      <a:r>
                        <a:rPr lang="en-US" sz="1651">
                          <a:solidFill>
                            <a:srgbClr val="0F17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0.8249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1"/>
                        </a:lnSpc>
                        <a:defRPr/>
                      </a:pPr>
                      <a:r>
                        <a:rPr lang="en-US" sz="1651">
                          <a:solidFill>
                            <a:srgbClr val="0F17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93.80%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1"/>
                        </a:lnSpc>
                        <a:defRPr/>
                      </a:pPr>
                      <a:r>
                        <a:rPr lang="en-US" sz="1651">
                          <a:solidFill>
                            <a:srgbClr val="0F17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91.90%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1"/>
                        </a:lnSpc>
                        <a:defRPr/>
                      </a:pPr>
                      <a:r>
                        <a:rPr lang="en-US" sz="1651">
                          <a:solidFill>
                            <a:srgbClr val="0F17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88.70%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</a:tbl>
          </a:graphicData>
        </a:graphic>
      </p:graphicFrame>
      <p:grpSp>
        <p:nvGrpSpPr>
          <p:cNvPr name="Group 13" id="13"/>
          <p:cNvGrpSpPr/>
          <p:nvPr/>
        </p:nvGrpSpPr>
        <p:grpSpPr>
          <a:xfrm rot="0">
            <a:off x="9608706" y="1784471"/>
            <a:ext cx="7549696" cy="7578319"/>
            <a:chOff x="0" y="0"/>
            <a:chExt cx="10066261" cy="10104425"/>
          </a:xfrm>
        </p:grpSpPr>
        <p:sp>
          <p:nvSpPr>
            <p:cNvPr name="Freeform 14" id="14" descr="predictions.png"/>
            <p:cNvSpPr/>
            <p:nvPr/>
          </p:nvSpPr>
          <p:spPr>
            <a:xfrm flipH="false" flipV="false" rot="0">
              <a:off x="0" y="0"/>
              <a:ext cx="10066274" cy="10104374"/>
            </a:xfrm>
            <a:custGeom>
              <a:avLst/>
              <a:gdLst/>
              <a:ahLst/>
              <a:cxnLst/>
              <a:rect r="r" b="b" t="t" l="l"/>
              <a:pathLst>
                <a:path h="10104374" w="10066274">
                  <a:moveTo>
                    <a:pt x="0" y="0"/>
                  </a:moveTo>
                  <a:lnTo>
                    <a:pt x="10066274" y="0"/>
                  </a:lnTo>
                  <a:lnTo>
                    <a:pt x="10066274" y="10104374"/>
                  </a:lnTo>
                  <a:lnTo>
                    <a:pt x="0" y="101043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235402"/>
            <a:chOff x="0" y="0"/>
            <a:chExt cx="24402453" cy="16472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647190"/>
            </a:xfrm>
            <a:custGeom>
              <a:avLst/>
              <a:gdLst/>
              <a:ahLst/>
              <a:cxnLst/>
              <a:rect r="r" b="b" t="t" l="l"/>
              <a:pathLst>
                <a:path h="1647190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647190"/>
                  </a:lnTo>
                  <a:lnTo>
                    <a:pt x="0" y="164719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3608" y="1166774"/>
            <a:ext cx="16654634" cy="27451"/>
            <a:chOff x="0" y="0"/>
            <a:chExt cx="22206179" cy="3660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206204" cy="36576"/>
            </a:xfrm>
            <a:custGeom>
              <a:avLst/>
              <a:gdLst/>
              <a:ahLst/>
              <a:cxnLst/>
              <a:rect r="r" b="b" t="t" l="l"/>
              <a:pathLst>
                <a:path h="36576" w="22206204">
                  <a:moveTo>
                    <a:pt x="0" y="0"/>
                  </a:moveTo>
                  <a:lnTo>
                    <a:pt x="22206204" y="0"/>
                  </a:lnTo>
                  <a:lnTo>
                    <a:pt x="22206204" y="36576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15048" y="184947"/>
            <a:ext cx="16289188" cy="936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7. Optimized Inference Service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877175" y="282159"/>
            <a:ext cx="1876130" cy="495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 b="true">
                <a:solidFill>
                  <a:srgbClr val="0D948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Slide 07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23608" y="1509941"/>
            <a:ext cx="7549696" cy="41177"/>
            <a:chOff x="0" y="0"/>
            <a:chExt cx="10066261" cy="5490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066274" cy="54864"/>
            </a:xfrm>
            <a:custGeom>
              <a:avLst/>
              <a:gdLst/>
              <a:ahLst/>
              <a:cxnLst/>
              <a:rect r="r" b="b" t="t" l="l"/>
              <a:pathLst>
                <a:path h="54864" w="10066274">
                  <a:moveTo>
                    <a:pt x="0" y="0"/>
                  </a:moveTo>
                  <a:lnTo>
                    <a:pt x="10066274" y="0"/>
                  </a:lnTo>
                  <a:lnTo>
                    <a:pt x="10066274" y="54864"/>
                  </a:lnTo>
                  <a:lnTo>
                    <a:pt x="0" y="54864"/>
                  </a:lnTo>
                  <a:close/>
                </a:path>
              </a:pathLst>
            </a:custGeom>
            <a:solidFill>
              <a:srgbClr val="0D948B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725186" y="2389765"/>
            <a:ext cx="8334456" cy="5629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5640" indent="-307820" lvl="1">
              <a:lnSpc>
                <a:spcPts val="3421"/>
              </a:lnSpc>
              <a:buFont typeface="Arial"/>
              <a:buChar char="•"/>
            </a:pPr>
            <a:r>
              <a:rPr lang="en-US" sz="2851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ONNX Runtime delivers ~2.2x CPU speedup through operator fusion (conv+bn+relu -&gt; single kernel).</a:t>
            </a:r>
          </a:p>
          <a:p>
            <a:pPr algn="l">
              <a:lnSpc>
                <a:spcPts val="3421"/>
              </a:lnSpc>
            </a:pPr>
          </a:p>
          <a:p>
            <a:pPr algn="l" marL="615640" indent="-307820" lvl="1">
              <a:lnSpc>
                <a:spcPts val="3421"/>
              </a:lnSpc>
              <a:buFont typeface="Arial"/>
              <a:buChar char="•"/>
            </a:pPr>
            <a:r>
              <a:rPr lang="en-US" sz="2851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Sliding-window tiling: 256x256 tiles, 32px overlap (~72 tiles/image)</a:t>
            </a:r>
          </a:p>
          <a:p>
            <a:pPr algn="l">
              <a:lnSpc>
                <a:spcPts val="3421"/>
              </a:lnSpc>
            </a:pPr>
            <a:r>
              <a:rPr lang="en-US" sz="2851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</a:p>
          <a:p>
            <a:pPr algn="l" marL="615640" indent="-307820" lvl="1">
              <a:lnSpc>
                <a:spcPts val="3421"/>
              </a:lnSpc>
              <a:buFont typeface="Arial"/>
              <a:buChar char="•"/>
            </a:pPr>
            <a:r>
              <a:rPr lang="en-US" sz="2851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Without tiling, a 2009x2007 image would require 46 GB GPU memory.</a:t>
            </a:r>
          </a:p>
          <a:p>
            <a:pPr algn="l">
              <a:lnSpc>
                <a:spcPts val="3421"/>
              </a:lnSpc>
            </a:pPr>
          </a:p>
          <a:p>
            <a:pPr algn="l" marL="615640" indent="-307820" lvl="1">
              <a:lnSpc>
                <a:spcPts val="3421"/>
              </a:lnSpc>
              <a:buFont typeface="Arial"/>
              <a:buChar char="•"/>
            </a:pPr>
            <a:r>
              <a:rPr lang="en-US" sz="2851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Test-Time Augmentation: horizontal flip averaging (+0.5-1% IOU)</a:t>
            </a:r>
          </a:p>
          <a:p>
            <a:pPr algn="l">
              <a:lnSpc>
                <a:spcPts val="3421"/>
              </a:lnSpc>
            </a:pPr>
          </a:p>
          <a:p>
            <a:pPr algn="l" marL="615640" indent="-307820" lvl="1">
              <a:lnSpc>
                <a:spcPts val="3421"/>
              </a:lnSpc>
              <a:buFont typeface="Arial"/>
              <a:buChar char="•"/>
            </a:pPr>
            <a:r>
              <a:rPr lang="en-US" sz="2851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Auto-fallback: ONNX -&gt; PyTorch -&gt; MLflow registry.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700146" y="1792091"/>
            <a:ext cx="6680483" cy="632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Latency per 256x256 Tile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700146" y="2625223"/>
            <a:ext cx="5994149" cy="280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PyTorch (CPU)  (~120 ms, 1.0x)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608706" y="3088510"/>
            <a:ext cx="6863363" cy="343167"/>
            <a:chOff x="0" y="0"/>
            <a:chExt cx="9151150" cy="45755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51112" cy="457581"/>
            </a:xfrm>
            <a:custGeom>
              <a:avLst/>
              <a:gdLst/>
              <a:ahLst/>
              <a:cxnLst/>
              <a:rect r="r" b="b" t="t" l="l"/>
              <a:pathLst>
                <a:path h="457581" w="9151112">
                  <a:moveTo>
                    <a:pt x="0" y="0"/>
                  </a:moveTo>
                  <a:lnTo>
                    <a:pt x="9151112" y="0"/>
                  </a:lnTo>
                  <a:lnTo>
                    <a:pt x="9151112" y="457581"/>
                  </a:lnTo>
                  <a:lnTo>
                    <a:pt x="0" y="457581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608706" y="3088510"/>
            <a:ext cx="6863363" cy="343167"/>
            <a:chOff x="0" y="0"/>
            <a:chExt cx="9151150" cy="45755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151112" cy="457581"/>
            </a:xfrm>
            <a:custGeom>
              <a:avLst/>
              <a:gdLst/>
              <a:ahLst/>
              <a:cxnLst/>
              <a:rect r="r" b="b" t="t" l="l"/>
              <a:pathLst>
                <a:path h="457581" w="9151112">
                  <a:moveTo>
                    <a:pt x="0" y="0"/>
                  </a:moveTo>
                  <a:lnTo>
                    <a:pt x="9151112" y="0"/>
                  </a:lnTo>
                  <a:lnTo>
                    <a:pt x="9151112" y="457581"/>
                  </a:lnTo>
                  <a:lnTo>
                    <a:pt x="0" y="457581"/>
                  </a:lnTo>
                  <a:close/>
                </a:path>
              </a:pathLst>
            </a:custGeom>
            <a:solidFill>
              <a:srgbClr val="64748B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6700773" y="3027502"/>
            <a:ext cx="1189796" cy="358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64748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1.0x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700146" y="3997900"/>
            <a:ext cx="5994149" cy="280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ONNX Runtime (CPU)  (~55 ms, 2.2x)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608706" y="4461186"/>
            <a:ext cx="6863363" cy="343167"/>
            <a:chOff x="0" y="0"/>
            <a:chExt cx="9151150" cy="45755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151112" cy="457581"/>
            </a:xfrm>
            <a:custGeom>
              <a:avLst/>
              <a:gdLst/>
              <a:ahLst/>
              <a:cxnLst/>
              <a:rect r="r" b="b" t="t" l="l"/>
              <a:pathLst>
                <a:path h="457581" w="9151112">
                  <a:moveTo>
                    <a:pt x="0" y="0"/>
                  </a:moveTo>
                  <a:lnTo>
                    <a:pt x="9151112" y="0"/>
                  </a:lnTo>
                  <a:lnTo>
                    <a:pt x="9151112" y="457581"/>
                  </a:lnTo>
                  <a:lnTo>
                    <a:pt x="0" y="457581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9608706" y="4461186"/>
            <a:ext cx="3157147" cy="343167"/>
            <a:chOff x="0" y="0"/>
            <a:chExt cx="4209529" cy="45755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209542" cy="457581"/>
            </a:xfrm>
            <a:custGeom>
              <a:avLst/>
              <a:gdLst/>
              <a:ahLst/>
              <a:cxnLst/>
              <a:rect r="r" b="b" t="t" l="l"/>
              <a:pathLst>
                <a:path h="457581" w="4209542">
                  <a:moveTo>
                    <a:pt x="0" y="0"/>
                  </a:moveTo>
                  <a:lnTo>
                    <a:pt x="4209542" y="0"/>
                  </a:lnTo>
                  <a:lnTo>
                    <a:pt x="4209542" y="457581"/>
                  </a:lnTo>
                  <a:lnTo>
                    <a:pt x="0" y="457581"/>
                  </a:lnTo>
                  <a:close/>
                </a:path>
              </a:pathLst>
            </a:custGeom>
            <a:solidFill>
              <a:srgbClr val="0D948B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2994557" y="4400169"/>
            <a:ext cx="1189796" cy="358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0D948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2.2x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700146" y="5370566"/>
            <a:ext cx="5994149" cy="280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ONNX Runtime (GPU)  (~15 ms, 8.0x)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608706" y="5833853"/>
            <a:ext cx="6863363" cy="343167"/>
            <a:chOff x="0" y="0"/>
            <a:chExt cx="9151150" cy="45755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151112" cy="457581"/>
            </a:xfrm>
            <a:custGeom>
              <a:avLst/>
              <a:gdLst/>
              <a:ahLst/>
              <a:cxnLst/>
              <a:rect r="r" b="b" t="t" l="l"/>
              <a:pathLst>
                <a:path h="457581" w="9151112">
                  <a:moveTo>
                    <a:pt x="0" y="0"/>
                  </a:moveTo>
                  <a:lnTo>
                    <a:pt x="9151112" y="0"/>
                  </a:lnTo>
                  <a:lnTo>
                    <a:pt x="9151112" y="457581"/>
                  </a:lnTo>
                  <a:lnTo>
                    <a:pt x="0" y="457581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608706" y="5833853"/>
            <a:ext cx="857917" cy="343167"/>
            <a:chOff x="0" y="0"/>
            <a:chExt cx="1143889" cy="45755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143889" cy="457581"/>
            </a:xfrm>
            <a:custGeom>
              <a:avLst/>
              <a:gdLst/>
              <a:ahLst/>
              <a:cxnLst/>
              <a:rect r="r" b="b" t="t" l="l"/>
              <a:pathLst>
                <a:path h="457581" w="1143889">
                  <a:moveTo>
                    <a:pt x="0" y="0"/>
                  </a:moveTo>
                  <a:lnTo>
                    <a:pt x="1143889" y="0"/>
                  </a:lnTo>
                  <a:lnTo>
                    <a:pt x="1143889" y="457581"/>
                  </a:lnTo>
                  <a:lnTo>
                    <a:pt x="0" y="457581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0695337" y="5772845"/>
            <a:ext cx="1189796" cy="358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6366F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8.0x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823608" y="8922372"/>
            <a:ext cx="14199403" cy="823608"/>
            <a:chOff x="0" y="0"/>
            <a:chExt cx="18932537" cy="109814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8932469" cy="1098169"/>
            </a:xfrm>
            <a:custGeom>
              <a:avLst/>
              <a:gdLst/>
              <a:ahLst/>
              <a:cxnLst/>
              <a:rect r="r" b="b" t="t" l="l"/>
              <a:pathLst>
                <a:path h="1098169" w="18932469">
                  <a:moveTo>
                    <a:pt x="0" y="0"/>
                  </a:moveTo>
                  <a:lnTo>
                    <a:pt x="18932469" y="0"/>
                  </a:lnTo>
                  <a:lnTo>
                    <a:pt x="18932469" y="1098169"/>
                  </a:lnTo>
                  <a:lnTo>
                    <a:pt x="0" y="1098169"/>
                  </a:lnTo>
                  <a:close/>
                </a:path>
              </a:pathLst>
            </a:custGeom>
            <a:solidFill>
              <a:srgbClr val="F0FDF4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1120940" y="9011231"/>
            <a:ext cx="14261341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1"/>
              </a:lnSpc>
            </a:pPr>
            <a:r>
              <a:rPr lang="en-US" sz="3401">
                <a:solidFill>
                  <a:srgbClr val="0D948B"/>
                </a:solidFill>
                <a:latin typeface="Calibri (MS)"/>
                <a:ea typeface="Calibri (MS)"/>
                <a:cs typeface="Calibri (MS)"/>
                <a:sym typeface="Calibri (MS)"/>
              </a:rPr>
              <a:t>Fallback chain: ONNX -&gt; PyTorch -&gt; MLflow Registry Weight Pull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235402"/>
            <a:chOff x="0" y="0"/>
            <a:chExt cx="24402453" cy="16472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647190"/>
            </a:xfrm>
            <a:custGeom>
              <a:avLst/>
              <a:gdLst/>
              <a:ahLst/>
              <a:cxnLst/>
              <a:rect r="r" b="b" t="t" l="l"/>
              <a:pathLst>
                <a:path h="1647190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647190"/>
                  </a:lnTo>
                  <a:lnTo>
                    <a:pt x="0" y="164719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3608" y="1166774"/>
            <a:ext cx="16654634" cy="27451"/>
            <a:chOff x="0" y="0"/>
            <a:chExt cx="22206179" cy="3660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206204" cy="36576"/>
            </a:xfrm>
            <a:custGeom>
              <a:avLst/>
              <a:gdLst/>
              <a:ahLst/>
              <a:cxnLst/>
              <a:rect r="r" b="b" t="t" l="l"/>
              <a:pathLst>
                <a:path h="36576" w="22206204">
                  <a:moveTo>
                    <a:pt x="0" y="0"/>
                  </a:moveTo>
                  <a:lnTo>
                    <a:pt x="22206204" y="0"/>
                  </a:lnTo>
                  <a:lnTo>
                    <a:pt x="22206204" y="36576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15048" y="184947"/>
            <a:ext cx="16289188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2"/>
              </a:lnSpc>
            </a:pPr>
            <a:r>
              <a:rPr lang="en-US" sz="3302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8. Failure Modes &amp; Model Transparency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877175" y="282159"/>
            <a:ext cx="1876130" cy="495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 b="true">
                <a:solidFill>
                  <a:srgbClr val="0D948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Slide 08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23608" y="1509941"/>
            <a:ext cx="7549696" cy="41177"/>
            <a:chOff x="0" y="0"/>
            <a:chExt cx="10066261" cy="5490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066274" cy="54864"/>
            </a:xfrm>
            <a:custGeom>
              <a:avLst/>
              <a:gdLst/>
              <a:ahLst/>
              <a:cxnLst/>
              <a:rect r="r" b="b" t="t" l="l"/>
              <a:pathLst>
                <a:path h="54864" w="10066274">
                  <a:moveTo>
                    <a:pt x="0" y="0"/>
                  </a:moveTo>
                  <a:lnTo>
                    <a:pt x="10066274" y="0"/>
                  </a:lnTo>
                  <a:lnTo>
                    <a:pt x="10066274" y="54864"/>
                  </a:lnTo>
                  <a:lnTo>
                    <a:pt x="0" y="54864"/>
                  </a:lnTo>
                  <a:close/>
                </a:path>
              </a:pathLst>
            </a:custGeom>
            <a:solidFill>
              <a:srgbClr val="0D948B"/>
            </a:solidFill>
          </p:spPr>
        </p:sp>
      </p:grpSp>
      <p:graphicFrame>
        <p:nvGraphicFramePr>
          <p:cNvPr name="Table 10" id="10"/>
          <p:cNvGraphicFramePr>
            <a:graphicFrameLocks noGrp="true"/>
          </p:cNvGraphicFramePr>
          <p:nvPr/>
        </p:nvGraphicFramePr>
        <p:xfrm>
          <a:off x="709146" y="1865443"/>
          <a:ext cx="7664158" cy="5423021"/>
        </p:xfrm>
        <a:graphic>
          <a:graphicData uri="http://schemas.openxmlformats.org/drawingml/2006/table">
            <a:tbl>
              <a:tblPr/>
              <a:tblGrid>
                <a:gridCol w="2554719"/>
                <a:gridCol w="2554719"/>
                <a:gridCol w="2554719"/>
              </a:tblGrid>
              <a:tr h="135575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1"/>
                        </a:lnSpc>
                        <a:defRPr/>
                      </a:pPr>
                      <a:r>
                        <a:rPr lang="en-US" sz="1651" b="true">
                          <a:solidFill>
                            <a:srgbClr val="0F172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Failure Mode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1"/>
                        </a:lnSpc>
                        <a:defRPr/>
                      </a:pPr>
                      <a:r>
                        <a:rPr lang="en-US" sz="1651" b="true">
                          <a:solidFill>
                            <a:srgbClr val="0F172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Impact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1"/>
                        </a:lnSpc>
                        <a:defRPr/>
                      </a:pPr>
                      <a:r>
                        <a:rPr lang="en-US" sz="1651" b="true">
                          <a:solidFill>
                            <a:srgbClr val="0F172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Root Cause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135575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1"/>
                        </a:lnSpc>
                        <a:defRPr/>
                      </a:pPr>
                      <a:r>
                        <a:rPr lang="en-US" sz="1651">
                          <a:solidFill>
                            <a:srgbClr val="0F17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Narrow waterways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1"/>
                        </a:lnSpc>
                        <a:defRPr/>
                      </a:pPr>
                      <a:r>
                        <a:rPr lang="en-US" sz="1651">
                          <a:solidFill>
                            <a:srgbClr val="0F17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Streams &lt;4px wide missed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1"/>
                        </a:lnSpc>
                        <a:defRPr/>
                      </a:pPr>
                      <a:r>
                        <a:rPr lang="en-US" sz="1651">
                          <a:solidFill>
                            <a:srgbClr val="0F17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256x256 resize destroys thin features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  <a:tr h="135575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1"/>
                        </a:lnSpc>
                        <a:defRPr/>
                      </a:pPr>
                      <a:r>
                        <a:rPr lang="en-US" sz="1651">
                          <a:solidFill>
                            <a:srgbClr val="0F17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Shadow / dark terrain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1"/>
                        </a:lnSpc>
                        <a:defRPr/>
                      </a:pPr>
                      <a:r>
                        <a:rPr lang="en-US" sz="1651">
                          <a:solidFill>
                            <a:srgbClr val="0F17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Shadows classified as water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1"/>
                        </a:lnSpc>
                        <a:defRPr/>
                      </a:pPr>
                      <a:r>
                        <a:rPr lang="en-US" sz="1651">
                          <a:solidFill>
                            <a:srgbClr val="0F17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RGB-only; NIR band disambiguates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5575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1"/>
                        </a:lnSpc>
                        <a:defRPr/>
                      </a:pPr>
                      <a:r>
                        <a:rPr lang="en-US" sz="1651">
                          <a:solidFill>
                            <a:srgbClr val="0F17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JPEG boundary noise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1"/>
                        </a:lnSpc>
                        <a:defRPr/>
                      </a:pPr>
                      <a:r>
                        <a:rPr lang="en-US" sz="1651">
                          <a:solidFill>
                            <a:srgbClr val="0F17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Ragged mask edges (+/-1px)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1"/>
                        </a:lnSpc>
                        <a:defRPr/>
                      </a:pPr>
                      <a:r>
                        <a:rPr lang="en-US" sz="1651">
                          <a:solidFill>
                            <a:srgbClr val="0F17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Compression artifacts in source masks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</a:tbl>
          </a:graphicData>
        </a:graphic>
      </p:graphicFrame>
      <p:sp>
        <p:nvSpPr>
          <p:cNvPr name="TextBox 11" id="11"/>
          <p:cNvSpPr txBox="true"/>
          <p:nvPr/>
        </p:nvSpPr>
        <p:spPr>
          <a:xfrm rot="0">
            <a:off x="609928" y="7560739"/>
            <a:ext cx="6680483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2"/>
              </a:lnSpc>
            </a:pPr>
            <a:r>
              <a:rPr lang="en-US" sz="3201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Operational Boundaries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09928" y="8505825"/>
            <a:ext cx="15526752" cy="1438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1"/>
              </a:lnSpc>
            </a:pPr>
            <a:r>
              <a:rPr lang="en-US" sz="3051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Production-ready for: lakes, large rivers, wide reservoirs</a:t>
            </a:r>
          </a:p>
          <a:p>
            <a:pPr algn="l">
              <a:lnSpc>
                <a:spcPts val="3661"/>
              </a:lnSpc>
            </a:pPr>
            <a:r>
              <a:rPr lang="en-US" sz="3051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Not suitable for: narrow canals, small ponds (&lt;500 m2), shadow-prone terrain</a:t>
            </a:r>
          </a:p>
          <a:p>
            <a:pPr algn="l">
              <a:lnSpc>
                <a:spcPts val="3661"/>
              </a:lnSpc>
            </a:pPr>
            <a:r>
              <a:rPr lang="en-US" sz="3051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Biggest bottleneck: RGB-only input -- adding NIR band gives +5-10% IOU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8901741" y="2079718"/>
            <a:ext cx="9254935" cy="4486284"/>
            <a:chOff x="0" y="0"/>
            <a:chExt cx="7014087" cy="3400044"/>
          </a:xfrm>
        </p:grpSpPr>
        <p:sp>
          <p:nvSpPr>
            <p:cNvPr name="Freeform 14" id="14" descr="edge_cases.png"/>
            <p:cNvSpPr/>
            <p:nvPr/>
          </p:nvSpPr>
          <p:spPr>
            <a:xfrm flipH="false" flipV="false" rot="0">
              <a:off x="0" y="0"/>
              <a:ext cx="7014099" cy="3400044"/>
            </a:xfrm>
            <a:custGeom>
              <a:avLst/>
              <a:gdLst/>
              <a:ahLst/>
              <a:cxnLst/>
              <a:rect r="r" b="b" t="t" l="l"/>
              <a:pathLst>
                <a:path h="3400044" w="7014099">
                  <a:moveTo>
                    <a:pt x="0" y="0"/>
                  </a:moveTo>
                  <a:lnTo>
                    <a:pt x="7014099" y="0"/>
                  </a:lnTo>
                  <a:lnTo>
                    <a:pt x="7014099" y="3400044"/>
                  </a:lnTo>
                  <a:lnTo>
                    <a:pt x="0" y="34000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1757" t="0" r="-21757" b="0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235402"/>
            <a:chOff x="0" y="0"/>
            <a:chExt cx="24402453" cy="16472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647190"/>
            </a:xfrm>
            <a:custGeom>
              <a:avLst/>
              <a:gdLst/>
              <a:ahLst/>
              <a:cxnLst/>
              <a:rect r="r" b="b" t="t" l="l"/>
              <a:pathLst>
                <a:path h="1647190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647190"/>
                  </a:lnTo>
                  <a:lnTo>
                    <a:pt x="0" y="164719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3608" y="1166774"/>
            <a:ext cx="16654634" cy="27451"/>
            <a:chOff x="0" y="0"/>
            <a:chExt cx="22206179" cy="3660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206204" cy="36576"/>
            </a:xfrm>
            <a:custGeom>
              <a:avLst/>
              <a:gdLst/>
              <a:ahLst/>
              <a:cxnLst/>
              <a:rect r="r" b="b" t="t" l="l"/>
              <a:pathLst>
                <a:path h="36576" w="22206204">
                  <a:moveTo>
                    <a:pt x="0" y="0"/>
                  </a:moveTo>
                  <a:lnTo>
                    <a:pt x="22206204" y="0"/>
                  </a:lnTo>
                  <a:lnTo>
                    <a:pt x="22206204" y="36576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15048" y="175422"/>
            <a:ext cx="16289188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2"/>
              </a:lnSpc>
            </a:pPr>
            <a:r>
              <a:rPr lang="en-US" sz="3502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9. MLOps Deployment Pipeline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877175" y="282159"/>
            <a:ext cx="1876130" cy="495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 b="true">
                <a:solidFill>
                  <a:srgbClr val="0D948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Slide 09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23608" y="1509941"/>
            <a:ext cx="7549696" cy="41177"/>
            <a:chOff x="0" y="0"/>
            <a:chExt cx="10066261" cy="5490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066274" cy="54864"/>
            </a:xfrm>
            <a:custGeom>
              <a:avLst/>
              <a:gdLst/>
              <a:ahLst/>
              <a:cxnLst/>
              <a:rect r="r" b="b" t="t" l="l"/>
              <a:pathLst>
                <a:path h="54864" w="10066274">
                  <a:moveTo>
                    <a:pt x="0" y="0"/>
                  </a:moveTo>
                  <a:lnTo>
                    <a:pt x="10066274" y="0"/>
                  </a:lnTo>
                  <a:lnTo>
                    <a:pt x="10066274" y="54864"/>
                  </a:lnTo>
                  <a:lnTo>
                    <a:pt x="0" y="54864"/>
                  </a:lnTo>
                  <a:close/>
                </a:path>
              </a:pathLst>
            </a:custGeom>
            <a:solidFill>
              <a:srgbClr val="0D948B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287895" y="1777327"/>
            <a:ext cx="2759640" cy="1249709"/>
            <a:chOff x="0" y="0"/>
            <a:chExt cx="3679520" cy="166627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9525" y="9525"/>
              <a:ext cx="3660521" cy="1647190"/>
            </a:xfrm>
            <a:custGeom>
              <a:avLst/>
              <a:gdLst/>
              <a:ahLst/>
              <a:cxnLst/>
              <a:rect r="r" b="b" t="t" l="l"/>
              <a:pathLst>
                <a:path h="1647190" w="3660521">
                  <a:moveTo>
                    <a:pt x="0" y="0"/>
                  </a:moveTo>
                  <a:lnTo>
                    <a:pt x="3660521" y="0"/>
                  </a:lnTo>
                  <a:lnTo>
                    <a:pt x="3660521" y="1647190"/>
                  </a:lnTo>
                  <a:lnTo>
                    <a:pt x="0" y="164719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679571" cy="1666240"/>
            </a:xfrm>
            <a:custGeom>
              <a:avLst/>
              <a:gdLst/>
              <a:ahLst/>
              <a:cxnLst/>
              <a:rect r="r" b="b" t="t" l="l"/>
              <a:pathLst>
                <a:path h="1666240" w="3679571">
                  <a:moveTo>
                    <a:pt x="9525" y="0"/>
                  </a:moveTo>
                  <a:lnTo>
                    <a:pt x="3670046" y="0"/>
                  </a:lnTo>
                  <a:cubicBezTo>
                    <a:pt x="3675253" y="0"/>
                    <a:pt x="3679571" y="4318"/>
                    <a:pt x="3679571" y="9525"/>
                  </a:cubicBezTo>
                  <a:lnTo>
                    <a:pt x="3679571" y="1656715"/>
                  </a:lnTo>
                  <a:cubicBezTo>
                    <a:pt x="3679571" y="1661922"/>
                    <a:pt x="3675253" y="1666240"/>
                    <a:pt x="3670046" y="1666240"/>
                  </a:cubicBezTo>
                  <a:lnTo>
                    <a:pt x="9525" y="1666240"/>
                  </a:lnTo>
                  <a:cubicBezTo>
                    <a:pt x="4318" y="1666240"/>
                    <a:pt x="0" y="1661922"/>
                    <a:pt x="0" y="1656715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1656715"/>
                  </a:lnTo>
                  <a:lnTo>
                    <a:pt x="9525" y="1656715"/>
                  </a:lnTo>
                  <a:lnTo>
                    <a:pt x="9525" y="1647190"/>
                  </a:lnTo>
                  <a:lnTo>
                    <a:pt x="3670046" y="1647190"/>
                  </a:lnTo>
                  <a:lnTo>
                    <a:pt x="3670046" y="1656715"/>
                  </a:lnTo>
                  <a:lnTo>
                    <a:pt x="3660521" y="1656715"/>
                  </a:lnTo>
                  <a:lnTo>
                    <a:pt x="3660521" y="9525"/>
                  </a:lnTo>
                  <a:lnTo>
                    <a:pt x="3670046" y="9525"/>
                  </a:lnTo>
                  <a:lnTo>
                    <a:pt x="3670046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0295039" y="1784471"/>
            <a:ext cx="2745343" cy="54912"/>
            <a:chOff x="0" y="0"/>
            <a:chExt cx="3660458" cy="7321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660521" cy="73152"/>
            </a:xfrm>
            <a:custGeom>
              <a:avLst/>
              <a:gdLst/>
              <a:ahLst/>
              <a:cxnLst/>
              <a:rect r="r" b="b" t="t" l="l"/>
              <a:pathLst>
                <a:path h="73152" w="3660521">
                  <a:moveTo>
                    <a:pt x="0" y="0"/>
                  </a:moveTo>
                  <a:lnTo>
                    <a:pt x="3660521" y="0"/>
                  </a:lnTo>
                  <a:lnTo>
                    <a:pt x="3660521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0D948B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0386479" y="1929365"/>
            <a:ext cx="2562463" cy="427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 b="true">
                <a:solidFill>
                  <a:srgbClr val="0D948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BUILD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3445042" y="1777327"/>
            <a:ext cx="2759640" cy="1249709"/>
            <a:chOff x="0" y="0"/>
            <a:chExt cx="3679520" cy="166627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9525" y="9525"/>
              <a:ext cx="3660521" cy="1647190"/>
            </a:xfrm>
            <a:custGeom>
              <a:avLst/>
              <a:gdLst/>
              <a:ahLst/>
              <a:cxnLst/>
              <a:rect r="r" b="b" t="t" l="l"/>
              <a:pathLst>
                <a:path h="1647190" w="3660521">
                  <a:moveTo>
                    <a:pt x="0" y="0"/>
                  </a:moveTo>
                  <a:lnTo>
                    <a:pt x="3660521" y="0"/>
                  </a:lnTo>
                  <a:lnTo>
                    <a:pt x="3660521" y="1647190"/>
                  </a:lnTo>
                  <a:lnTo>
                    <a:pt x="0" y="164719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679571" cy="1666240"/>
            </a:xfrm>
            <a:custGeom>
              <a:avLst/>
              <a:gdLst/>
              <a:ahLst/>
              <a:cxnLst/>
              <a:rect r="r" b="b" t="t" l="l"/>
              <a:pathLst>
                <a:path h="1666240" w="3679571">
                  <a:moveTo>
                    <a:pt x="9525" y="0"/>
                  </a:moveTo>
                  <a:lnTo>
                    <a:pt x="3670046" y="0"/>
                  </a:lnTo>
                  <a:cubicBezTo>
                    <a:pt x="3675253" y="0"/>
                    <a:pt x="3679571" y="4318"/>
                    <a:pt x="3679571" y="9525"/>
                  </a:cubicBezTo>
                  <a:lnTo>
                    <a:pt x="3679571" y="1656715"/>
                  </a:lnTo>
                  <a:cubicBezTo>
                    <a:pt x="3679571" y="1661922"/>
                    <a:pt x="3675253" y="1666240"/>
                    <a:pt x="3670046" y="1666240"/>
                  </a:cubicBezTo>
                  <a:lnTo>
                    <a:pt x="9525" y="1666240"/>
                  </a:lnTo>
                  <a:cubicBezTo>
                    <a:pt x="4318" y="1666240"/>
                    <a:pt x="0" y="1661922"/>
                    <a:pt x="0" y="1656715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1656715"/>
                  </a:lnTo>
                  <a:lnTo>
                    <a:pt x="9525" y="1656715"/>
                  </a:lnTo>
                  <a:lnTo>
                    <a:pt x="9525" y="1647190"/>
                  </a:lnTo>
                  <a:lnTo>
                    <a:pt x="3670046" y="1647190"/>
                  </a:lnTo>
                  <a:lnTo>
                    <a:pt x="3670046" y="1656715"/>
                  </a:lnTo>
                  <a:lnTo>
                    <a:pt x="3660521" y="1656715"/>
                  </a:lnTo>
                  <a:lnTo>
                    <a:pt x="3660521" y="9525"/>
                  </a:lnTo>
                  <a:lnTo>
                    <a:pt x="3670046" y="9525"/>
                  </a:lnTo>
                  <a:lnTo>
                    <a:pt x="3670046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3452186" y="1784471"/>
            <a:ext cx="2745343" cy="54912"/>
            <a:chOff x="0" y="0"/>
            <a:chExt cx="3660458" cy="7321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660521" cy="73152"/>
            </a:xfrm>
            <a:custGeom>
              <a:avLst/>
              <a:gdLst/>
              <a:ahLst/>
              <a:cxnLst/>
              <a:rect r="r" b="b" t="t" l="l"/>
              <a:pathLst>
                <a:path h="73152" w="3660521">
                  <a:moveTo>
                    <a:pt x="0" y="0"/>
                  </a:moveTo>
                  <a:lnTo>
                    <a:pt x="3660521" y="0"/>
                  </a:lnTo>
                  <a:lnTo>
                    <a:pt x="3660521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0D948B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3543626" y="1929365"/>
            <a:ext cx="2562463" cy="427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 b="true">
                <a:solidFill>
                  <a:srgbClr val="0D948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PUSH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57267" y="2969885"/>
            <a:ext cx="8693658" cy="405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2462" indent="-286231" lvl="1">
              <a:lnSpc>
                <a:spcPts val="3181"/>
              </a:lnSpc>
              <a:buFont typeface="Arial"/>
              <a:buChar char="•"/>
            </a:pPr>
            <a:r>
              <a:rPr lang="en-US" sz="2651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GitHub Actions on push to master: flake8 lint -&gt; 15 pytest -&gt; Docker build -&gt; Docker Hub push.</a:t>
            </a:r>
          </a:p>
          <a:p>
            <a:pPr algn="l" marL="572462" indent="-286231" lvl="1">
              <a:lnSpc>
                <a:spcPts val="3181"/>
              </a:lnSpc>
              <a:buFont typeface="Arial"/>
              <a:buChar char="•"/>
            </a:pPr>
            <a:r>
              <a:rPr lang="en-US" sz="2651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Dockerfile: python:3.11-slim, ONNX model baked in, HEALTHCHECK every 10s.</a:t>
            </a:r>
          </a:p>
          <a:p>
            <a:pPr algn="l" marL="572462" indent="-286231" lvl="1">
              <a:lnSpc>
                <a:spcPts val="3181"/>
              </a:lnSpc>
              <a:buFont typeface="Arial"/>
              <a:buChar char="•"/>
            </a:pPr>
            <a:r>
              <a:rPr lang="en-US" sz="2651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MLflow: per-epoch metrics, model registry (water-segmentation-unet v1, serialization_format=pt2).</a:t>
            </a:r>
          </a:p>
          <a:p>
            <a:pPr algn="l" marL="572462" indent="-286231" lvl="1">
              <a:lnSpc>
                <a:spcPts val="3181"/>
              </a:lnSpc>
              <a:buFont typeface="Arial"/>
              <a:buChar char="•"/>
            </a:pPr>
            <a:r>
              <a:rPr lang="en-US" sz="2651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Security: 60 req/min rate limiter, 100 MB upload cap, path traversal protection.</a:t>
            </a:r>
          </a:p>
          <a:p>
            <a:pPr algn="l" marL="572462" indent="-286231" lvl="1">
              <a:lnSpc>
                <a:spcPts val="3181"/>
              </a:lnSpc>
              <a:buFont typeface="Arial"/>
              <a:buChar char="•"/>
            </a:pPr>
            <a:r>
              <a:rPr lang="en-US" sz="2651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Image: angelgupta/water-segmentation:latest on Docker Hub.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608706" y="1784471"/>
            <a:ext cx="7549696" cy="7557221"/>
            <a:chOff x="0" y="0"/>
            <a:chExt cx="10066261" cy="10076294"/>
          </a:xfrm>
        </p:grpSpPr>
        <p:sp>
          <p:nvSpPr>
            <p:cNvPr name="Freeform 24" id="24" descr="demo_output.png"/>
            <p:cNvSpPr/>
            <p:nvPr/>
          </p:nvSpPr>
          <p:spPr>
            <a:xfrm flipH="false" flipV="false" rot="0">
              <a:off x="0" y="0"/>
              <a:ext cx="10066274" cy="10076307"/>
            </a:xfrm>
            <a:custGeom>
              <a:avLst/>
              <a:gdLst/>
              <a:ahLst/>
              <a:cxnLst/>
              <a:rect r="r" b="b" t="t" l="l"/>
              <a:pathLst>
                <a:path h="10076307" w="10066274">
                  <a:moveTo>
                    <a:pt x="0" y="0"/>
                  </a:moveTo>
                  <a:lnTo>
                    <a:pt x="10066274" y="0"/>
                  </a:lnTo>
                  <a:lnTo>
                    <a:pt x="10066274" y="10076307"/>
                  </a:lnTo>
                  <a:lnTo>
                    <a:pt x="0" y="100763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235402"/>
            <a:chOff x="0" y="0"/>
            <a:chExt cx="24402453" cy="16472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647190"/>
            </a:xfrm>
            <a:custGeom>
              <a:avLst/>
              <a:gdLst/>
              <a:ahLst/>
              <a:cxnLst/>
              <a:rect r="r" b="b" t="t" l="l"/>
              <a:pathLst>
                <a:path h="1647190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647190"/>
                  </a:lnTo>
                  <a:lnTo>
                    <a:pt x="0" y="164719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3608" y="1166774"/>
            <a:ext cx="16654634" cy="27451"/>
            <a:chOff x="0" y="0"/>
            <a:chExt cx="22206179" cy="3660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206204" cy="36576"/>
            </a:xfrm>
            <a:custGeom>
              <a:avLst/>
              <a:gdLst/>
              <a:ahLst/>
              <a:cxnLst/>
              <a:rect r="r" b="b" t="t" l="l"/>
              <a:pathLst>
                <a:path h="36576" w="22206204">
                  <a:moveTo>
                    <a:pt x="0" y="0"/>
                  </a:moveTo>
                  <a:lnTo>
                    <a:pt x="22206204" y="0"/>
                  </a:lnTo>
                  <a:lnTo>
                    <a:pt x="22206204" y="36576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15048" y="184947"/>
            <a:ext cx="16289188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2"/>
              </a:lnSpc>
            </a:pPr>
            <a:r>
              <a:rPr lang="en-US" sz="3402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10. Recommendations &amp; Strategic Roadmap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877175" y="263109"/>
            <a:ext cx="1876130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001"/>
              </a:lnSpc>
            </a:pPr>
            <a:r>
              <a:rPr lang="en-US" sz="2501" b="true">
                <a:solidFill>
                  <a:srgbClr val="0D948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Slide 10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731644" y="2813178"/>
            <a:ext cx="5216157" cy="686333"/>
            <a:chOff x="0" y="0"/>
            <a:chExt cx="6954876" cy="91511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954901" cy="915162"/>
            </a:xfrm>
            <a:custGeom>
              <a:avLst/>
              <a:gdLst/>
              <a:ahLst/>
              <a:cxnLst/>
              <a:rect r="r" b="b" t="t" l="l"/>
              <a:pathLst>
                <a:path h="915162" w="6954901">
                  <a:moveTo>
                    <a:pt x="0" y="0"/>
                  </a:moveTo>
                  <a:lnTo>
                    <a:pt x="6954901" y="0"/>
                  </a:lnTo>
                  <a:lnTo>
                    <a:pt x="6954901" y="915162"/>
                  </a:lnTo>
                  <a:lnTo>
                    <a:pt x="0" y="915162"/>
                  </a:lnTo>
                  <a:close/>
                </a:path>
              </a:pathLst>
            </a:custGeom>
            <a:solidFill>
              <a:srgbClr val="DC2626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823084" y="2801748"/>
            <a:ext cx="5033277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81"/>
              </a:lnSpc>
            </a:pPr>
            <a:r>
              <a:rPr lang="en-US" sz="265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HIGH IMPACT (+5-10% IOU)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97613" y="3772145"/>
            <a:ext cx="4484208" cy="1724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1"/>
              </a:lnSpc>
            </a:pPr>
            <a:r>
              <a:rPr lang="en-US" sz="2801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  Add NIR band input (Band 8) for NDWI</a:t>
            </a:r>
          </a:p>
          <a:p>
            <a:pPr algn="l">
              <a:lnSpc>
                <a:spcPts val="3361"/>
              </a:lnSpc>
            </a:pPr>
            <a:r>
              <a:rPr lang="en-US" sz="2801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  Train on full-resolution random crops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6496860" y="2813178"/>
            <a:ext cx="5216157" cy="686333"/>
            <a:chOff x="0" y="0"/>
            <a:chExt cx="6954876" cy="91511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954901" cy="915162"/>
            </a:xfrm>
            <a:custGeom>
              <a:avLst/>
              <a:gdLst/>
              <a:ahLst/>
              <a:cxnLst/>
              <a:rect r="r" b="b" t="t" l="l"/>
              <a:pathLst>
                <a:path h="915162" w="6954901">
                  <a:moveTo>
                    <a:pt x="0" y="0"/>
                  </a:moveTo>
                  <a:lnTo>
                    <a:pt x="6954901" y="0"/>
                  </a:lnTo>
                  <a:lnTo>
                    <a:pt x="6954901" y="915162"/>
                  </a:lnTo>
                  <a:lnTo>
                    <a:pt x="0" y="915162"/>
                  </a:lnTo>
                  <a:close/>
                </a:path>
              </a:pathLst>
            </a:custGeom>
            <a:solidFill>
              <a:srgbClr val="D97706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6588300" y="2801748"/>
            <a:ext cx="5033277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81"/>
              </a:lnSpc>
            </a:pPr>
            <a:r>
              <a:rPr lang="en-US" sz="265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MEDIUM IMPACT (+1-3% IOU)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862839" y="3772145"/>
            <a:ext cx="4484208" cy="1304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1"/>
              </a:lnSpc>
            </a:pPr>
            <a:r>
              <a:rPr lang="en-US" sz="2801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  EfficientNet-B4 encoder swap</a:t>
            </a:r>
          </a:p>
          <a:p>
            <a:pPr algn="l">
              <a:lnSpc>
                <a:spcPts val="3361"/>
              </a:lnSpc>
            </a:pPr>
            <a:r>
              <a:rPr lang="en-US" sz="2801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  Optuna Bayesian search (30+ trials)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2262085" y="2813178"/>
            <a:ext cx="5216157" cy="686333"/>
            <a:chOff x="0" y="0"/>
            <a:chExt cx="6954876" cy="91511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954901" cy="915162"/>
            </a:xfrm>
            <a:custGeom>
              <a:avLst/>
              <a:gdLst/>
              <a:ahLst/>
              <a:cxnLst/>
              <a:rect r="r" b="b" t="t" l="l"/>
              <a:pathLst>
                <a:path h="915162" w="6954901">
                  <a:moveTo>
                    <a:pt x="0" y="0"/>
                  </a:moveTo>
                  <a:lnTo>
                    <a:pt x="6954901" y="0"/>
                  </a:lnTo>
                  <a:lnTo>
                    <a:pt x="6954901" y="915162"/>
                  </a:lnTo>
                  <a:lnTo>
                    <a:pt x="0" y="915162"/>
                  </a:lnTo>
                  <a:close/>
                </a:path>
              </a:pathLst>
            </a:custGeom>
            <a:solidFill>
              <a:srgbClr val="0D948B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2353525" y="2801748"/>
            <a:ext cx="5033277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81"/>
              </a:lnSpc>
            </a:pPr>
            <a:r>
              <a:rPr lang="en-US" sz="265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LOW IMPACT (+0.5-1% IOU)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628064" y="3772145"/>
            <a:ext cx="4484208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1"/>
              </a:lnSpc>
            </a:pPr>
            <a:r>
              <a:rPr lang="en-US" sz="2801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  Ensemble (3-5 seeds)</a:t>
            </a:r>
          </a:p>
          <a:p>
            <a:pPr algn="l">
              <a:lnSpc>
                <a:spcPts val="3361"/>
              </a:lnSpc>
            </a:pPr>
            <a:r>
              <a:rPr lang="en-US" sz="2801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  CRF post-processing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15048" y="7048745"/>
            <a:ext cx="16289188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1"/>
              </a:lnSpc>
            </a:pPr>
            <a:r>
              <a:rPr lang="en-US" sz="3101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Current model (IOU 0.82) is production-ready for coarse water mapping. Adding NIR band closes the gap to high-precision applications.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DAHKf1x1H2s</dc:identifier>
  <dcterms:modified xsi:type="dcterms:W3CDTF">2011-08-01T06:04:30Z</dcterms:modified>
  <cp:revision>1</cp:revision>
  <dc:title>presentation.pptx</dc:title>
</cp:coreProperties>
</file>